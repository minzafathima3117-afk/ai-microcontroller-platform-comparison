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95d279d-6ca4-ba61-82af-ff64e16d6a22}">
          <p14:sldIdLst>
            <p14:sldId id="256"/>
            <p14:sldId id="257"/>
          </p14:sldIdLst>
        </p14:section>
        <p14:section name="Method" id="{350a433d-fbc8-fc06-b4b8-40231a3b1ba4}">
          <p14:sldIdLst>
            <p14:sldId id="258"/>
            <p14:sldId id="259"/>
          </p14:sldIdLst>
        </p14:section>
        <p14:section name="Results" id="{5fca8005-2aef-77dc-1c3b-aa1a607c6fbb}">
          <p14:sldIdLst>
            <p14:sldId id="260"/>
            <p14:sldId id="261"/>
            <p14:sldId id="262"/>
            <p14:sldId id="263"/>
          </p14:sldIdLst>
        </p14:section>
        <p14:section name="Conclusion" id="{88df58cf-7d9d-47de-e4d3-a38a65a5b3bd}">
          <p14:sldIdLst>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914400"/>
            <a:ext cx="5669280" cy="1463040"/>
          </a:xfrm>
          <a:prstGeom prst="rect">
            <a:avLst/>
          </a:prstGeom>
          <a:noFill/>
          <a:ln/>
        </p:spPr>
        <p:txBody>
          <a:bodyPr wrap="square" rtlCol="0"/>
          <a:lstStyle>
            <a:lvl1pPr algn="l" indent="0" marL="0">
              <a:buNone/>
              <a:defRPr lang="en-US" sz="3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800" dirty="0"/>
          </a:p>
        </p:txBody>
      </p:sp>
      <p:sp>
        <p:nvSpPr>
          <p:cNvPr id="3" name="Text 0"/>
          <p:cNvSpPr/>
          <p:nvPr>
            <p:ph idx="101" type="body" hasCustomPrompt="1"/>
          </p:nvPr>
        </p:nvSpPr>
        <p:spPr>
          <a:xfrm>
            <a:off x="548640" y="2606040"/>
            <a:ext cx="5669280" cy="1097280"/>
          </a:xfrm>
          <a:prstGeom prst="rect">
            <a:avLst/>
          </a:prstGeom>
          <a:noFill/>
          <a:ln/>
        </p:spPr>
        <p:txBody>
          <a:bodyPr wrap="square" rtlCol="0"/>
          <a:lstStyle>
            <a:lvl1pPr algn="l" indent="0" marL="0">
              <a:buNone/>
              <a:defRPr lang="en-US" sz="1800" dirty="0">
                <a:solidFill>
                  <a:schemeClr val="accent5"/>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rtlCol="0"/>
          <a:lstStyle>
            <a:lvl1pPr algn="l" indent="0" marL="0">
              <a:buNone/>
              <a:defRPr lang="en-US" sz="36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832104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914400"/>
            <a:ext cx="5669280" cy="1463040"/>
          </a:xfrm>
          <a:prstGeom prst="rect">
            <a:avLst/>
          </a:prstGeom>
          <a:noFill/>
          <a:ln/>
        </p:spPr>
        <p:txBody>
          <a:bodyPr wrap="square" lIns="0" tIns="0" rIns="0" bIns="0" rtlCol="0" anchor="b"/>
          <a:lstStyle/>
          <a:p>
            <a:pPr algn="l" indent="0" marL="0">
              <a:buNone/>
            </a:pPr>
            <a:r>
              <a:rPr lang="en-US" sz="3800" b="1" dirty="0">
                <a:solidFill>
                  <a:schemeClr val="bg1"/>
                </a:solidFill>
                <a:latin typeface="Cambria" pitchFamily="34" charset="0"/>
                <a:ea typeface="Cambria" pitchFamily="34" charset="-122"/>
                <a:cs typeface="Cambria" pitchFamily="34" charset="-120"/>
              </a:rPr>
              <a:t>AI Microcontroller Platform Comparison</a:t>
            </a:r>
            <a:endParaRPr lang="en-US" sz="3800" dirty="0"/>
          </a:p>
        </p:txBody>
      </p:sp>
      <p:sp>
        <p:nvSpPr>
          <p:cNvPr id="3" name="Text 0"/>
          <p:cNvSpPr/>
          <p:nvPr>
            <p:ph idx="101" type="body" hasCustomPrompt="1"/>
          </p:nvPr>
        </p:nvSpPr>
        <p:spPr>
          <a:xfrm>
            <a:off x="548640" y="2606040"/>
            <a:ext cx="5669280" cy="1097280"/>
          </a:xfrm>
          <a:prstGeom prst="rect">
            <a:avLst/>
          </a:prstGeom>
          <a:noFill/>
          <a:ln/>
        </p:spPr>
        <p:txBody>
          <a:bodyPr wrap="square" lIns="0" tIns="0" rIns="0" bIns="0" rtlCol="0" anchor="t"/>
          <a:lstStyle/>
          <a:p>
            <a:pPr algn="l" indent="0" marL="0">
              <a:buNone/>
            </a:pPr>
            <a:r>
              <a:rPr lang="en-US" sz="1800" dirty="0">
                <a:solidFill>
                  <a:schemeClr val="accent5"/>
                </a:solidFill>
              </a:rPr>
              <a:t>An AI-Assisted Research, Verification, and Recommendation Project</a:t>
            </a:r>
            <a:endParaRPr lang="en-US" sz="1800" dirty="0"/>
          </a:p>
        </p:txBody>
      </p:sp>
      <p:sp>
        <p:nvSpPr>
          <p:cNvPr id="4" name="Text 2"/>
          <p:cNvSpPr txBox="1"/>
          <p:nvPr/>
        </p:nvSpPr>
        <p:spPr>
          <a:xfrm>
            <a:off x="548640" y="3931920"/>
            <a:ext cx="5669280" cy="822960"/>
          </a:xfrm>
          <a:prstGeom prst="rect">
            <a:avLst/>
          </a:prstGeom>
          <a:noFill/>
          <a:ln/>
        </p:spPr>
        <p:txBody>
          <a:bodyPr wrap="square" lIns="0" tIns="0" rIns="0" bIns="0" rtlCol="0" anchor="t"/>
          <a:lstStyle/>
          <a:p>
            <a:pPr indent="0" marL="0">
              <a:spcAft>
                <a:spcPts val="300"/>
              </a:spcAft>
              <a:buNone/>
            </a:pPr>
            <a:r>
              <a:rPr lang="en-US" sz="1400" b="1" dirty="0">
                <a:solidFill>
                  <a:schemeClr val="bg1"/>
                </a:solidFill>
              </a:rPr>
              <a:t>Presented by: Minza Fathima K</a:t>
            </a:r>
            <a:endParaRPr lang="en-US" sz="1400" dirty="0"/>
          </a:p>
          <a:p>
            <a:pPr indent="0" marL="0">
              <a:spcAft>
                <a:spcPts val="300"/>
              </a:spcAft>
              <a:buNone/>
            </a:pPr>
            <a:r>
              <a:rPr lang="en-US" sz="1400" dirty="0">
                <a:solidFill>
                  <a:schemeClr val="accent5"/>
                </a:solidFill>
              </a:rPr>
              <a:t>Department: Electronics and Communication Engineering</a:t>
            </a:r>
            <a:endParaRPr lang="en-US" sz="1400" dirty="0"/>
          </a:p>
          <a:p>
            <a:pPr indent="0" marL="0">
              <a:spcAft>
                <a:spcPts val="300"/>
              </a:spcAft>
              <a:buNone/>
            </a:pPr>
            <a:r>
              <a:rPr lang="en-US" sz="1400" dirty="0">
                <a:solidFill>
                  <a:schemeClr val="accent5"/>
                </a:solidFill>
              </a:rPr>
              <a:t>Academic Year: 2026–2027</a:t>
            </a:r>
            <a:endParaRPr lang="en-US" sz="1400" dirty="0"/>
          </a:p>
        </p:txBody>
      </p:sp>
      <p:sp>
        <p:nvSpPr>
          <p:cNvPr id="5" name="Chip circle"/>
          <p:cNvSpPr/>
          <p:nvPr/>
        </p:nvSpPr>
        <p:spPr>
          <a:xfrm>
            <a:off x="6537960" y="1325880"/>
            <a:ext cx="2286000" cy="2286000"/>
          </a:xfrm>
          <a:prstGeom prst="ellipse">
            <a:avLst/>
          </a:prstGeom>
          <a:solidFill>
            <a:schemeClr val="accent4"/>
          </a:solidFill>
          <a:ln w="31750">
            <a:solidFill>
              <a:schemeClr val="accent1"/>
            </a:solidFill>
            <a:prstDash val="solid"/>
          </a:ln>
        </p:spPr>
      </p:sp>
      <p:pic>
        <p:nvPicPr>
          <p:cNvPr id="6" name="Image 0" descr="Microchip icon">    </p:cNvPr>
          <p:cNvPicPr>
            <a:picLocks noChangeAspect="1"/>
          </p:cNvPicPr>
          <p:nvPr/>
        </p:nvPicPr>
        <p:blipFill>
          <a:blip r:embed="rId1"/>
          <a:stretch>
            <a:fillRect/>
          </a:stretch>
        </p:blipFill>
        <p:spPr>
          <a:xfrm>
            <a:off x="7223760" y="2011680"/>
            <a:ext cx="914400" cy="914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Abstract</a:t>
            </a:r>
            <a:endParaRPr lang="en-US" sz="3600" dirty="0"/>
          </a:p>
        </p:txBody>
      </p:sp>
      <p:sp>
        <p:nvSpPr>
          <p:cNvPr id="3" name="Text 1"/>
          <p:cNvSpPr txBox="1"/>
          <p:nvPr/>
        </p:nvSpPr>
        <p:spPr>
          <a:xfrm>
            <a:off x="548640" y="1280160"/>
            <a:ext cx="4754880" cy="3291840"/>
          </a:xfrm>
          <a:prstGeom prst="rect">
            <a:avLst/>
          </a:prstGeom>
          <a:noFill/>
          <a:ln/>
        </p:spPr>
        <p:txBody>
          <a:bodyPr wrap="square" lIns="0" tIns="0" rIns="0" bIns="0" rtlCol="0" anchor="t"/>
          <a:lstStyle/>
          <a:p>
            <a:pPr indent="0" marL="0">
              <a:spcAft>
                <a:spcPts val="1000"/>
              </a:spcAft>
              <a:buNone/>
            </a:pPr>
            <a:r>
              <a:rPr lang="en-US" sz="1500" dirty="0">
                <a:solidFill>
                  <a:schemeClr val="tx1"/>
                </a:solidFill>
              </a:rPr>
              <a:t>Microcontrollers are widely used in embedded systems, IoT, automation, and electronic devices. Choosing the right platform depends on processing speed, memory, connectivity, cost, and ease of use.</a:t>
            </a:r>
            <a:endParaRPr lang="en-US" sz="1500" dirty="0"/>
          </a:p>
          <a:p>
            <a:pPr indent="0" marL="0">
              <a:spcAft>
                <a:spcPts val="1000"/>
              </a:spcAft>
              <a:buNone/>
            </a:pPr>
            <a:r>
              <a:rPr lang="en-US" sz="1500" dirty="0">
                <a:solidFill>
                  <a:schemeClr val="tx1"/>
                </a:solidFill>
              </a:rPr>
              <a:t>AI tools assisted technical research. The information was checked against official manufacturer documentation, and Python automation found missing values and duplicate platform names.</a:t>
            </a:r>
            <a:endParaRPr lang="en-US" sz="1500" dirty="0"/>
          </a:p>
          <a:p>
            <a:pPr indent="0" marL="0">
              <a:spcAft>
                <a:spcPts val="1000"/>
              </a:spcAft>
              <a:buNone/>
            </a:pPr>
            <a:r>
              <a:rPr lang="en-US" sz="1500" b="1" dirty="0">
                <a:solidFill>
                  <a:schemeClr val="accent4"/>
                </a:solidFill>
              </a:rPr>
              <a:t>Outcome: a structured comparison and recommendation chart for different project requirements.</a:t>
            </a:r>
            <a:endParaRPr lang="en-US" sz="1500" dirty="0"/>
          </a:p>
        </p:txBody>
      </p:sp>
      <p:sp>
        <p:nvSpPr>
          <p:cNvPr id="4" name="Card"/>
          <p:cNvSpPr/>
          <p:nvPr/>
        </p:nvSpPr>
        <p:spPr>
          <a:xfrm>
            <a:off x="5669280" y="1280160"/>
            <a:ext cx="2926080" cy="3291840"/>
          </a:xfrm>
          <a:prstGeom prst="roundRect">
            <a:avLst>
              <a:gd name="adj" fmla="val 3750"/>
            </a:avLst>
          </a:prstGeom>
          <a:solidFill>
            <a:schemeClr val="bg2"/>
          </a:solidFill>
          <a:ln w="12700">
            <a:solidFill>
              <a:schemeClr val="bg2"/>
            </a:solidFill>
            <a:prstDash val="solid"/>
          </a:ln>
        </p:spPr>
      </p:sp>
      <p:sp>
        <p:nvSpPr>
          <p:cNvPr id="5" name="Text 3"/>
          <p:cNvSpPr txBox="1"/>
          <p:nvPr/>
        </p:nvSpPr>
        <p:spPr>
          <a:xfrm>
            <a:off x="5897880" y="1417320"/>
            <a:ext cx="2560320" cy="365760"/>
          </a:xfrm>
          <a:prstGeom prst="rect">
            <a:avLst/>
          </a:prstGeom>
          <a:noFill/>
          <a:ln/>
        </p:spPr>
        <p:txBody>
          <a:bodyPr wrap="square" lIns="0" tIns="0" rIns="0" bIns="0" rtlCol="0" anchor="ctr"/>
          <a:lstStyle/>
          <a:p>
            <a:pPr indent="0" marL="0">
              <a:buNone/>
            </a:pPr>
            <a:r>
              <a:rPr lang="en-US" sz="1600" b="1" dirty="0">
                <a:solidFill>
                  <a:schemeClr val="accent2"/>
                </a:solidFill>
              </a:rPr>
              <a:t>Platforms Studied</a:t>
            </a:r>
            <a:endParaRPr lang="en-US" sz="1600" dirty="0"/>
          </a:p>
        </p:txBody>
      </p:sp>
      <p:sp>
        <p:nvSpPr>
          <p:cNvPr id="6" name="Icon circle"/>
          <p:cNvSpPr/>
          <p:nvPr/>
        </p:nvSpPr>
        <p:spPr>
          <a:xfrm>
            <a:off x="5897880" y="1920240"/>
            <a:ext cx="457200" cy="457200"/>
          </a:xfrm>
          <a:prstGeom prst="ellipse">
            <a:avLst/>
          </a:prstGeom>
          <a:solidFill>
            <a:schemeClr val="accent2"/>
          </a:solidFill>
          <a:ln w="12700">
            <a:solidFill>
              <a:schemeClr val="accent2"/>
            </a:solidFill>
            <a:prstDash val="solid"/>
          </a:ln>
        </p:spPr>
      </p:sp>
      <p:pic>
        <p:nvPicPr>
          <p:cNvPr id="7" name="Image 0" descr="icon">    </p:cNvPr>
          <p:cNvPicPr>
            <a:picLocks noChangeAspect="1"/>
          </p:cNvPicPr>
          <p:nvPr/>
        </p:nvPicPr>
        <p:blipFill>
          <a:blip r:embed="rId1"/>
          <a:stretch>
            <a:fillRect/>
          </a:stretch>
        </p:blipFill>
        <p:spPr>
          <a:xfrm>
            <a:off x="6012180" y="2034540"/>
            <a:ext cx="228600" cy="228600"/>
          </a:xfrm>
          <a:prstGeom prst="rect">
            <a:avLst/>
          </a:prstGeom>
        </p:spPr>
      </p:pic>
      <p:sp>
        <p:nvSpPr>
          <p:cNvPr id="8" name="Text 5"/>
          <p:cNvSpPr txBox="1"/>
          <p:nvPr/>
        </p:nvSpPr>
        <p:spPr>
          <a:xfrm>
            <a:off x="6492240" y="1920240"/>
            <a:ext cx="2011680" cy="457200"/>
          </a:xfrm>
          <a:prstGeom prst="rect">
            <a:avLst/>
          </a:prstGeom>
          <a:noFill/>
          <a:ln/>
        </p:spPr>
        <p:txBody>
          <a:bodyPr wrap="square" lIns="0" tIns="0" rIns="0" bIns="0" rtlCol="0" anchor="ctr"/>
          <a:lstStyle/>
          <a:p>
            <a:pPr indent="0" marL="0">
              <a:buNone/>
            </a:pPr>
            <a:r>
              <a:rPr lang="en-US" sz="1500" b="1" dirty="0">
                <a:solidFill>
                  <a:schemeClr val="tx1"/>
                </a:solidFill>
              </a:rPr>
              <a:t>Arduino Uno R3</a:t>
            </a:r>
            <a:endParaRPr lang="en-US" sz="1500" dirty="0"/>
          </a:p>
        </p:txBody>
      </p:sp>
      <p:sp>
        <p:nvSpPr>
          <p:cNvPr id="9" name="Icon circle"/>
          <p:cNvSpPr/>
          <p:nvPr/>
        </p:nvSpPr>
        <p:spPr>
          <a:xfrm>
            <a:off x="5897880" y="2578608"/>
            <a:ext cx="457200" cy="457200"/>
          </a:xfrm>
          <a:prstGeom prst="ellipse">
            <a:avLst/>
          </a:prstGeom>
          <a:solidFill>
            <a:schemeClr val="accent2"/>
          </a:solidFill>
          <a:ln w="12700">
            <a:solidFill>
              <a:schemeClr val="accent2"/>
            </a:solidFill>
            <a:prstDash val="solid"/>
          </a:ln>
        </p:spPr>
      </p:sp>
      <p:pic>
        <p:nvPicPr>
          <p:cNvPr id="10" name="Image 1" descr="icon">    </p:cNvPr>
          <p:cNvPicPr>
            <a:picLocks noChangeAspect="1"/>
          </p:cNvPicPr>
          <p:nvPr/>
        </p:nvPicPr>
        <p:blipFill>
          <a:blip r:embed="rId2"/>
          <a:stretch>
            <a:fillRect/>
          </a:stretch>
        </p:blipFill>
        <p:spPr>
          <a:xfrm>
            <a:off x="6012180" y="2692908"/>
            <a:ext cx="228600" cy="228600"/>
          </a:xfrm>
          <a:prstGeom prst="rect">
            <a:avLst/>
          </a:prstGeom>
        </p:spPr>
      </p:pic>
      <p:sp>
        <p:nvSpPr>
          <p:cNvPr id="11" name="Text 7"/>
          <p:cNvSpPr txBox="1"/>
          <p:nvPr/>
        </p:nvSpPr>
        <p:spPr>
          <a:xfrm>
            <a:off x="6492240" y="2578608"/>
            <a:ext cx="2011680" cy="457200"/>
          </a:xfrm>
          <a:prstGeom prst="rect">
            <a:avLst/>
          </a:prstGeom>
          <a:noFill/>
          <a:ln/>
        </p:spPr>
        <p:txBody>
          <a:bodyPr wrap="square" lIns="0" tIns="0" rIns="0" bIns="0" rtlCol="0" anchor="ctr"/>
          <a:lstStyle/>
          <a:p>
            <a:pPr indent="0" marL="0">
              <a:buNone/>
            </a:pPr>
            <a:r>
              <a:rPr lang="en-US" sz="1500" b="1" dirty="0">
                <a:solidFill>
                  <a:schemeClr val="tx1"/>
                </a:solidFill>
              </a:rPr>
              <a:t>ESP32-DevKitC</a:t>
            </a:r>
            <a:endParaRPr lang="en-US" sz="1500" dirty="0"/>
          </a:p>
        </p:txBody>
      </p:sp>
      <p:sp>
        <p:nvSpPr>
          <p:cNvPr id="12" name="Icon circle"/>
          <p:cNvSpPr/>
          <p:nvPr/>
        </p:nvSpPr>
        <p:spPr>
          <a:xfrm>
            <a:off x="5897880" y="3236976"/>
            <a:ext cx="457200" cy="457200"/>
          </a:xfrm>
          <a:prstGeom prst="ellipse">
            <a:avLst/>
          </a:prstGeom>
          <a:solidFill>
            <a:schemeClr val="accent2"/>
          </a:solidFill>
          <a:ln w="12700">
            <a:solidFill>
              <a:schemeClr val="accent2"/>
            </a:solidFill>
            <a:prstDash val="solid"/>
          </a:ln>
        </p:spPr>
      </p:sp>
      <p:pic>
        <p:nvPicPr>
          <p:cNvPr id="13" name="Image 2" descr="icon">    </p:cNvPr>
          <p:cNvPicPr>
            <a:picLocks noChangeAspect="1"/>
          </p:cNvPicPr>
          <p:nvPr/>
        </p:nvPicPr>
        <p:blipFill>
          <a:blip r:embed="rId3"/>
          <a:stretch>
            <a:fillRect/>
          </a:stretch>
        </p:blipFill>
        <p:spPr>
          <a:xfrm>
            <a:off x="6012180" y="3351276"/>
            <a:ext cx="228600" cy="228600"/>
          </a:xfrm>
          <a:prstGeom prst="rect">
            <a:avLst/>
          </a:prstGeom>
        </p:spPr>
      </p:pic>
      <p:sp>
        <p:nvSpPr>
          <p:cNvPr id="14" name="Text 9"/>
          <p:cNvSpPr txBox="1"/>
          <p:nvPr/>
        </p:nvSpPr>
        <p:spPr>
          <a:xfrm>
            <a:off x="6492240" y="3236976"/>
            <a:ext cx="2011680" cy="457200"/>
          </a:xfrm>
          <a:prstGeom prst="rect">
            <a:avLst/>
          </a:prstGeom>
          <a:noFill/>
          <a:ln/>
        </p:spPr>
        <p:txBody>
          <a:bodyPr wrap="square" lIns="0" tIns="0" rIns="0" bIns="0" rtlCol="0" anchor="ctr"/>
          <a:lstStyle/>
          <a:p>
            <a:pPr indent="0" marL="0">
              <a:buNone/>
            </a:pPr>
            <a:r>
              <a:rPr lang="en-US" sz="1500" b="1" dirty="0">
                <a:solidFill>
                  <a:schemeClr val="tx1"/>
                </a:solidFill>
              </a:rPr>
              <a:t>STM32 Blue Pill</a:t>
            </a:r>
            <a:endParaRPr lang="en-US" sz="1500" dirty="0"/>
          </a:p>
        </p:txBody>
      </p:sp>
      <p:sp>
        <p:nvSpPr>
          <p:cNvPr id="15" name="Icon circle"/>
          <p:cNvSpPr/>
          <p:nvPr/>
        </p:nvSpPr>
        <p:spPr>
          <a:xfrm>
            <a:off x="5897880" y="3895344"/>
            <a:ext cx="457200" cy="457200"/>
          </a:xfrm>
          <a:prstGeom prst="ellipse">
            <a:avLst/>
          </a:prstGeom>
          <a:solidFill>
            <a:schemeClr val="accent2"/>
          </a:solidFill>
          <a:ln w="12700">
            <a:solidFill>
              <a:schemeClr val="accent2"/>
            </a:solidFill>
            <a:prstDash val="solid"/>
          </a:ln>
        </p:spPr>
      </p:sp>
      <p:pic>
        <p:nvPicPr>
          <p:cNvPr id="16" name="Image 3" descr="icon">    </p:cNvPr>
          <p:cNvPicPr>
            <a:picLocks noChangeAspect="1"/>
          </p:cNvPicPr>
          <p:nvPr/>
        </p:nvPicPr>
        <p:blipFill>
          <a:blip r:embed="rId4"/>
          <a:stretch>
            <a:fillRect/>
          </a:stretch>
        </p:blipFill>
        <p:spPr>
          <a:xfrm>
            <a:off x="6012180" y="4009644"/>
            <a:ext cx="228600" cy="228600"/>
          </a:xfrm>
          <a:prstGeom prst="rect">
            <a:avLst/>
          </a:prstGeom>
        </p:spPr>
      </p:pic>
      <p:sp>
        <p:nvSpPr>
          <p:cNvPr id="17" name="Text 11"/>
          <p:cNvSpPr txBox="1"/>
          <p:nvPr/>
        </p:nvSpPr>
        <p:spPr>
          <a:xfrm>
            <a:off x="6492240" y="3895344"/>
            <a:ext cx="2011680" cy="457200"/>
          </a:xfrm>
          <a:prstGeom prst="rect">
            <a:avLst/>
          </a:prstGeom>
          <a:noFill/>
          <a:ln/>
        </p:spPr>
        <p:txBody>
          <a:bodyPr wrap="square" lIns="0" tIns="0" rIns="0" bIns="0" rtlCol="0" anchor="ctr"/>
          <a:lstStyle/>
          <a:p>
            <a:pPr indent="0" marL="0">
              <a:buNone/>
            </a:pPr>
            <a:r>
              <a:rPr lang="en-US" sz="1500" b="1" dirty="0">
                <a:solidFill>
                  <a:schemeClr val="tx1"/>
                </a:solidFill>
              </a:rPr>
              <a:t>Raspberry Pi Pico</a:t>
            </a:r>
            <a:endParaRPr lang="en-US" sz="1500" dirty="0"/>
          </a:p>
        </p:txBody>
      </p:sp>
      <p:sp>
        <p:nvSpPr>
          <p:cNvPr id="25" name="Slide Number Placeholder 0"/>
          <p:cNvSpPr>
            <a:spLocks noGrp="1"/>
          </p:cNvSpPr>
          <p:nvPr>
            <p:ph type="sldNum" sz="quarter" idx="4294967295"/>
          </p:nvPr>
        </p:nvSpPr>
        <p:spPr>
          <a:xfrm>
            <a:off x="832104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Project Overview</a:t>
            </a:r>
            <a:endParaRPr lang="en-US" sz="3600" dirty="0"/>
          </a:p>
        </p:txBody>
      </p:sp>
      <p:sp>
        <p:nvSpPr>
          <p:cNvPr id="3" name="Text 1"/>
          <p:cNvSpPr txBox="1"/>
          <p:nvPr/>
        </p:nvSpPr>
        <p:spPr>
          <a:xfrm>
            <a:off x="548640" y="1188720"/>
            <a:ext cx="8046720" cy="640080"/>
          </a:xfrm>
          <a:prstGeom prst="rect">
            <a:avLst/>
          </a:prstGeom>
          <a:noFill/>
          <a:ln/>
        </p:spPr>
        <p:txBody>
          <a:bodyPr wrap="square" lIns="0" tIns="0" rIns="0" bIns="0" rtlCol="0" anchor="t"/>
          <a:lstStyle/>
          <a:p>
            <a:pPr indent="0" marL="0">
              <a:buNone/>
            </a:pPr>
            <a:r>
              <a:rPr lang="en-US" sz="1500" dirty="0">
                <a:solidFill>
                  <a:schemeClr val="tx1"/>
                </a:solidFill>
              </a:rPr>
              <a:t>Four popular platforms are evaluated on technical specifications and project requirements, combining AI-assisted research, manual verification, and Python dataset validation.</a:t>
            </a:r>
            <a:endParaRPr lang="en-US" sz="1500" dirty="0"/>
          </a:p>
        </p:txBody>
      </p:sp>
      <p:sp>
        <p:nvSpPr>
          <p:cNvPr id="4" name="Text 2"/>
          <p:cNvSpPr txBox="1"/>
          <p:nvPr/>
        </p:nvSpPr>
        <p:spPr>
          <a:xfrm>
            <a:off x="548640" y="1874520"/>
            <a:ext cx="2743200" cy="274320"/>
          </a:xfrm>
          <a:prstGeom prst="rect">
            <a:avLst/>
          </a:prstGeom>
          <a:noFill/>
          <a:ln/>
        </p:spPr>
        <p:txBody>
          <a:bodyPr wrap="square" lIns="0" tIns="0" rIns="0" bIns="0" rtlCol="0" anchor="ctr"/>
          <a:lstStyle/>
          <a:p>
            <a:pPr indent="0" marL="0">
              <a:buNone/>
            </a:pPr>
            <a:r>
              <a:rPr lang="en-US" sz="1600" b="1" dirty="0">
                <a:solidFill>
                  <a:schemeClr val="accent2"/>
                </a:solidFill>
              </a:rPr>
              <a:t>Objectives</a:t>
            </a:r>
            <a:endParaRPr lang="en-US" sz="1600" dirty="0"/>
          </a:p>
        </p:txBody>
      </p:sp>
      <p:sp>
        <p:nvSpPr>
          <p:cNvPr id="5" name="Card"/>
          <p:cNvSpPr/>
          <p:nvPr/>
        </p:nvSpPr>
        <p:spPr>
          <a:xfrm>
            <a:off x="548640" y="2240280"/>
            <a:ext cx="2560320" cy="1097280"/>
          </a:xfrm>
          <a:prstGeom prst="roundRect">
            <a:avLst>
              <a:gd name="adj" fmla="val 10000"/>
            </a:avLst>
          </a:prstGeom>
          <a:solidFill>
            <a:schemeClr val="bg2"/>
          </a:solidFill>
          <a:ln w="12700">
            <a:solidFill>
              <a:schemeClr val="bg2"/>
            </a:solidFill>
            <a:prstDash val="solid"/>
          </a:ln>
        </p:spPr>
      </p:sp>
      <p:sp>
        <p:nvSpPr>
          <p:cNvPr id="6" name="Icon circle"/>
          <p:cNvSpPr/>
          <p:nvPr/>
        </p:nvSpPr>
        <p:spPr>
          <a:xfrm>
            <a:off x="685800" y="2560320"/>
            <a:ext cx="457200" cy="457200"/>
          </a:xfrm>
          <a:prstGeom prst="ellipse">
            <a:avLst/>
          </a:prstGeom>
          <a:solidFill>
            <a:schemeClr val="accent2"/>
          </a:solidFill>
          <a:ln w="12700">
            <a:solidFill>
              <a:schemeClr val="accent2"/>
            </a:solidFill>
            <a:prstDash val="solid"/>
          </a:ln>
        </p:spPr>
      </p:sp>
      <p:pic>
        <p:nvPicPr>
          <p:cNvPr id="7" name="Image 0" descr="icon">    </p:cNvPr>
          <p:cNvPicPr>
            <a:picLocks noChangeAspect="1"/>
          </p:cNvPicPr>
          <p:nvPr/>
        </p:nvPicPr>
        <p:blipFill>
          <a:blip r:embed="rId1"/>
          <a:stretch>
            <a:fillRect/>
          </a:stretch>
        </p:blipFill>
        <p:spPr>
          <a:xfrm>
            <a:off x="800100" y="2674620"/>
            <a:ext cx="228600" cy="228600"/>
          </a:xfrm>
          <a:prstGeom prst="rect">
            <a:avLst/>
          </a:prstGeom>
        </p:spPr>
      </p:pic>
      <p:sp>
        <p:nvSpPr>
          <p:cNvPr id="8" name="Text 5"/>
          <p:cNvSpPr txBox="1"/>
          <p:nvPr/>
        </p:nvSpPr>
        <p:spPr>
          <a:xfrm>
            <a:off x="1280160" y="2331720"/>
            <a:ext cx="1737360" cy="914400"/>
          </a:xfrm>
          <a:prstGeom prst="rect">
            <a:avLst/>
          </a:prstGeom>
          <a:noFill/>
          <a:ln/>
        </p:spPr>
        <p:txBody>
          <a:bodyPr wrap="square" lIns="0" tIns="0" rIns="0" bIns="0" rtlCol="0" anchor="ctr"/>
          <a:lstStyle/>
          <a:p>
            <a:pPr indent="0" marL="0">
              <a:buNone/>
            </a:pPr>
            <a:r>
              <a:rPr lang="en-US" sz="1400" dirty="0">
                <a:solidFill>
                  <a:schemeClr val="tx1"/>
                </a:solidFill>
              </a:rPr>
              <a:t>Compare four microcontroller platforms</a:t>
            </a:r>
            <a:endParaRPr lang="en-US" sz="1400" dirty="0"/>
          </a:p>
        </p:txBody>
      </p:sp>
      <p:sp>
        <p:nvSpPr>
          <p:cNvPr id="9" name="Card"/>
          <p:cNvSpPr/>
          <p:nvPr/>
        </p:nvSpPr>
        <p:spPr>
          <a:xfrm>
            <a:off x="3291840" y="2240280"/>
            <a:ext cx="2560320" cy="1097280"/>
          </a:xfrm>
          <a:prstGeom prst="roundRect">
            <a:avLst>
              <a:gd name="adj" fmla="val 10000"/>
            </a:avLst>
          </a:prstGeom>
          <a:solidFill>
            <a:schemeClr val="bg2"/>
          </a:solidFill>
          <a:ln w="12700">
            <a:solidFill>
              <a:schemeClr val="bg2"/>
            </a:solidFill>
            <a:prstDash val="solid"/>
          </a:ln>
        </p:spPr>
      </p:sp>
      <p:sp>
        <p:nvSpPr>
          <p:cNvPr id="10" name="Icon circle"/>
          <p:cNvSpPr/>
          <p:nvPr/>
        </p:nvSpPr>
        <p:spPr>
          <a:xfrm>
            <a:off x="3429000" y="2560320"/>
            <a:ext cx="457200" cy="457200"/>
          </a:xfrm>
          <a:prstGeom prst="ellipse">
            <a:avLst/>
          </a:prstGeom>
          <a:solidFill>
            <a:schemeClr val="accent2"/>
          </a:solidFill>
          <a:ln w="12700">
            <a:solidFill>
              <a:schemeClr val="accent2"/>
            </a:solidFill>
            <a:prstDash val="solid"/>
          </a:ln>
        </p:spPr>
      </p:sp>
      <p:pic>
        <p:nvPicPr>
          <p:cNvPr id="11" name="Image 1" descr="icon">    </p:cNvPr>
          <p:cNvPicPr>
            <a:picLocks noChangeAspect="1"/>
          </p:cNvPicPr>
          <p:nvPr/>
        </p:nvPicPr>
        <p:blipFill>
          <a:blip r:embed="rId2"/>
          <a:stretch>
            <a:fillRect/>
          </a:stretch>
        </p:blipFill>
        <p:spPr>
          <a:xfrm>
            <a:off x="3543300" y="2674620"/>
            <a:ext cx="228600" cy="228600"/>
          </a:xfrm>
          <a:prstGeom prst="rect">
            <a:avLst/>
          </a:prstGeom>
        </p:spPr>
      </p:pic>
      <p:sp>
        <p:nvSpPr>
          <p:cNvPr id="12" name="Text 8"/>
          <p:cNvSpPr txBox="1"/>
          <p:nvPr/>
        </p:nvSpPr>
        <p:spPr>
          <a:xfrm>
            <a:off x="4023360" y="2331720"/>
            <a:ext cx="1737360" cy="914400"/>
          </a:xfrm>
          <a:prstGeom prst="rect">
            <a:avLst/>
          </a:prstGeom>
          <a:noFill/>
          <a:ln/>
        </p:spPr>
        <p:txBody>
          <a:bodyPr wrap="square" lIns="0" tIns="0" rIns="0" bIns="0" rtlCol="0" anchor="ctr"/>
          <a:lstStyle/>
          <a:p>
            <a:pPr indent="0" marL="0">
              <a:buNone/>
            </a:pPr>
            <a:r>
              <a:rPr lang="en-US" sz="1400" dirty="0">
                <a:solidFill>
                  <a:schemeClr val="tx1"/>
                </a:solidFill>
              </a:rPr>
              <a:t>Evaluate processing, memory, connectivity, and I/O features</a:t>
            </a:r>
            <a:endParaRPr lang="en-US" sz="1400" dirty="0"/>
          </a:p>
        </p:txBody>
      </p:sp>
      <p:sp>
        <p:nvSpPr>
          <p:cNvPr id="13" name="Card"/>
          <p:cNvSpPr/>
          <p:nvPr/>
        </p:nvSpPr>
        <p:spPr>
          <a:xfrm>
            <a:off x="6035040" y="2240280"/>
            <a:ext cx="2560320" cy="1097280"/>
          </a:xfrm>
          <a:prstGeom prst="roundRect">
            <a:avLst>
              <a:gd name="adj" fmla="val 10000"/>
            </a:avLst>
          </a:prstGeom>
          <a:solidFill>
            <a:schemeClr val="bg2"/>
          </a:solidFill>
          <a:ln w="12700">
            <a:solidFill>
              <a:schemeClr val="bg2"/>
            </a:solidFill>
            <a:prstDash val="solid"/>
          </a:ln>
        </p:spPr>
      </p:sp>
      <p:sp>
        <p:nvSpPr>
          <p:cNvPr id="14" name="Icon circle"/>
          <p:cNvSpPr/>
          <p:nvPr/>
        </p:nvSpPr>
        <p:spPr>
          <a:xfrm>
            <a:off x="6172200" y="2560320"/>
            <a:ext cx="457200" cy="457200"/>
          </a:xfrm>
          <a:prstGeom prst="ellipse">
            <a:avLst/>
          </a:prstGeom>
          <a:solidFill>
            <a:schemeClr val="accent2"/>
          </a:solidFill>
          <a:ln w="12700">
            <a:solidFill>
              <a:schemeClr val="accent2"/>
            </a:solidFill>
            <a:prstDash val="solid"/>
          </a:ln>
        </p:spPr>
      </p:sp>
      <p:pic>
        <p:nvPicPr>
          <p:cNvPr id="15" name="Image 2" descr="icon">    </p:cNvPr>
          <p:cNvPicPr>
            <a:picLocks noChangeAspect="1"/>
          </p:cNvPicPr>
          <p:nvPr/>
        </p:nvPicPr>
        <p:blipFill>
          <a:blip r:embed="rId3"/>
          <a:stretch>
            <a:fillRect/>
          </a:stretch>
        </p:blipFill>
        <p:spPr>
          <a:xfrm>
            <a:off x="6286500" y="2674620"/>
            <a:ext cx="228600" cy="228600"/>
          </a:xfrm>
          <a:prstGeom prst="rect">
            <a:avLst/>
          </a:prstGeom>
        </p:spPr>
      </p:pic>
      <p:sp>
        <p:nvSpPr>
          <p:cNvPr id="16" name="Text 11"/>
          <p:cNvSpPr txBox="1"/>
          <p:nvPr/>
        </p:nvSpPr>
        <p:spPr>
          <a:xfrm>
            <a:off x="6766560" y="2331720"/>
            <a:ext cx="1737360" cy="914400"/>
          </a:xfrm>
          <a:prstGeom prst="rect">
            <a:avLst/>
          </a:prstGeom>
          <a:noFill/>
          <a:ln/>
        </p:spPr>
        <p:txBody>
          <a:bodyPr wrap="square" lIns="0" tIns="0" rIns="0" bIns="0" rtlCol="0" anchor="ctr"/>
          <a:lstStyle/>
          <a:p>
            <a:pPr indent="0" marL="0">
              <a:buNone/>
            </a:pPr>
            <a:r>
              <a:rPr lang="en-US" sz="1400" dirty="0">
                <a:solidFill>
                  <a:schemeClr val="tx1"/>
                </a:solidFill>
              </a:rPr>
              <a:t>Use AI tools to support research and organizing information</a:t>
            </a:r>
            <a:endParaRPr lang="en-US" sz="1400" dirty="0"/>
          </a:p>
        </p:txBody>
      </p:sp>
      <p:sp>
        <p:nvSpPr>
          <p:cNvPr id="17" name="Card"/>
          <p:cNvSpPr/>
          <p:nvPr/>
        </p:nvSpPr>
        <p:spPr>
          <a:xfrm>
            <a:off x="548640" y="3474720"/>
            <a:ext cx="2560320" cy="1097280"/>
          </a:xfrm>
          <a:prstGeom prst="roundRect">
            <a:avLst>
              <a:gd name="adj" fmla="val 10000"/>
            </a:avLst>
          </a:prstGeom>
          <a:solidFill>
            <a:schemeClr val="bg2"/>
          </a:solidFill>
          <a:ln w="12700">
            <a:solidFill>
              <a:schemeClr val="bg2"/>
            </a:solidFill>
            <a:prstDash val="solid"/>
          </a:ln>
        </p:spPr>
      </p:sp>
      <p:sp>
        <p:nvSpPr>
          <p:cNvPr id="18" name="Icon circle"/>
          <p:cNvSpPr/>
          <p:nvPr/>
        </p:nvSpPr>
        <p:spPr>
          <a:xfrm>
            <a:off x="685800" y="3794760"/>
            <a:ext cx="457200" cy="457200"/>
          </a:xfrm>
          <a:prstGeom prst="ellipse">
            <a:avLst/>
          </a:prstGeom>
          <a:solidFill>
            <a:schemeClr val="accent2"/>
          </a:solidFill>
          <a:ln w="12700">
            <a:solidFill>
              <a:schemeClr val="accent2"/>
            </a:solidFill>
            <a:prstDash val="solid"/>
          </a:ln>
        </p:spPr>
      </p:sp>
      <p:pic>
        <p:nvPicPr>
          <p:cNvPr id="19" name="Image 3" descr="icon">    </p:cNvPr>
          <p:cNvPicPr>
            <a:picLocks noChangeAspect="1"/>
          </p:cNvPicPr>
          <p:nvPr/>
        </p:nvPicPr>
        <p:blipFill>
          <a:blip r:embed="rId4"/>
          <a:stretch>
            <a:fillRect/>
          </a:stretch>
        </p:blipFill>
        <p:spPr>
          <a:xfrm>
            <a:off x="800100" y="3909060"/>
            <a:ext cx="228600" cy="228600"/>
          </a:xfrm>
          <a:prstGeom prst="rect">
            <a:avLst/>
          </a:prstGeom>
        </p:spPr>
      </p:pic>
      <p:sp>
        <p:nvSpPr>
          <p:cNvPr id="20" name="Text 14"/>
          <p:cNvSpPr txBox="1"/>
          <p:nvPr/>
        </p:nvSpPr>
        <p:spPr>
          <a:xfrm>
            <a:off x="1280160" y="3566160"/>
            <a:ext cx="1737360" cy="914400"/>
          </a:xfrm>
          <a:prstGeom prst="rect">
            <a:avLst/>
          </a:prstGeom>
          <a:noFill/>
          <a:ln/>
        </p:spPr>
        <p:txBody>
          <a:bodyPr wrap="square" lIns="0" tIns="0" rIns="0" bIns="0" rtlCol="0" anchor="ctr"/>
          <a:lstStyle/>
          <a:p>
            <a:pPr indent="0" marL="0">
              <a:buNone/>
            </a:pPr>
            <a:r>
              <a:rPr lang="en-US" sz="1400" dirty="0">
                <a:solidFill>
                  <a:schemeClr val="tx1"/>
                </a:solidFill>
              </a:rPr>
              <a:t>Verify specifications using official sources</a:t>
            </a:r>
            <a:endParaRPr lang="en-US" sz="1400" dirty="0"/>
          </a:p>
        </p:txBody>
      </p:sp>
      <p:sp>
        <p:nvSpPr>
          <p:cNvPr id="21" name="Card"/>
          <p:cNvSpPr/>
          <p:nvPr/>
        </p:nvSpPr>
        <p:spPr>
          <a:xfrm>
            <a:off x="3291840" y="3474720"/>
            <a:ext cx="2560320" cy="1097280"/>
          </a:xfrm>
          <a:prstGeom prst="roundRect">
            <a:avLst>
              <a:gd name="adj" fmla="val 10000"/>
            </a:avLst>
          </a:prstGeom>
          <a:solidFill>
            <a:schemeClr val="bg2"/>
          </a:solidFill>
          <a:ln w="12700">
            <a:solidFill>
              <a:schemeClr val="bg2"/>
            </a:solidFill>
            <a:prstDash val="solid"/>
          </a:ln>
        </p:spPr>
      </p:sp>
      <p:sp>
        <p:nvSpPr>
          <p:cNvPr id="22" name="Icon circle"/>
          <p:cNvSpPr/>
          <p:nvPr/>
        </p:nvSpPr>
        <p:spPr>
          <a:xfrm>
            <a:off x="3429000" y="3794760"/>
            <a:ext cx="457200" cy="457200"/>
          </a:xfrm>
          <a:prstGeom prst="ellipse">
            <a:avLst/>
          </a:prstGeom>
          <a:solidFill>
            <a:schemeClr val="accent2"/>
          </a:solidFill>
          <a:ln w="12700">
            <a:solidFill>
              <a:schemeClr val="accent2"/>
            </a:solidFill>
            <a:prstDash val="solid"/>
          </a:ln>
        </p:spPr>
      </p:sp>
      <p:pic>
        <p:nvPicPr>
          <p:cNvPr id="23" name="Image 4" descr="icon">    </p:cNvPr>
          <p:cNvPicPr>
            <a:picLocks noChangeAspect="1"/>
          </p:cNvPicPr>
          <p:nvPr/>
        </p:nvPicPr>
        <p:blipFill>
          <a:blip r:embed="rId5"/>
          <a:stretch>
            <a:fillRect/>
          </a:stretch>
        </p:blipFill>
        <p:spPr>
          <a:xfrm>
            <a:off x="3543300" y="3909060"/>
            <a:ext cx="228600" cy="228600"/>
          </a:xfrm>
          <a:prstGeom prst="rect">
            <a:avLst/>
          </a:prstGeom>
        </p:spPr>
      </p:pic>
      <p:sp>
        <p:nvSpPr>
          <p:cNvPr id="24" name="Text 17"/>
          <p:cNvSpPr txBox="1"/>
          <p:nvPr/>
        </p:nvSpPr>
        <p:spPr>
          <a:xfrm>
            <a:off x="4023360" y="3566160"/>
            <a:ext cx="1737360" cy="914400"/>
          </a:xfrm>
          <a:prstGeom prst="rect">
            <a:avLst/>
          </a:prstGeom>
          <a:noFill/>
          <a:ln/>
        </p:spPr>
        <p:txBody>
          <a:bodyPr wrap="square" lIns="0" tIns="0" rIns="0" bIns="0" rtlCol="0" anchor="ctr"/>
          <a:lstStyle/>
          <a:p>
            <a:pPr indent="0" marL="0">
              <a:buNone/>
            </a:pPr>
            <a:r>
              <a:rPr lang="en-US" sz="1400" dirty="0">
                <a:solidFill>
                  <a:schemeClr val="tx1"/>
                </a:solidFill>
              </a:rPr>
              <a:t>Automate basic dataset validation with Python</a:t>
            </a:r>
            <a:endParaRPr lang="en-US" sz="1400" dirty="0"/>
          </a:p>
        </p:txBody>
      </p:sp>
      <p:sp>
        <p:nvSpPr>
          <p:cNvPr id="25" name="Card"/>
          <p:cNvSpPr/>
          <p:nvPr/>
        </p:nvSpPr>
        <p:spPr>
          <a:xfrm>
            <a:off x="6035040" y="3474720"/>
            <a:ext cx="2560320" cy="1097280"/>
          </a:xfrm>
          <a:prstGeom prst="roundRect">
            <a:avLst>
              <a:gd name="adj" fmla="val 10000"/>
            </a:avLst>
          </a:prstGeom>
          <a:solidFill>
            <a:schemeClr val="bg2"/>
          </a:solidFill>
          <a:ln w="12700">
            <a:solidFill>
              <a:schemeClr val="bg2"/>
            </a:solidFill>
            <a:prstDash val="solid"/>
          </a:ln>
        </p:spPr>
      </p:sp>
      <p:sp>
        <p:nvSpPr>
          <p:cNvPr id="26" name="Icon circle"/>
          <p:cNvSpPr/>
          <p:nvPr/>
        </p:nvSpPr>
        <p:spPr>
          <a:xfrm>
            <a:off x="6172200" y="3794760"/>
            <a:ext cx="457200" cy="457200"/>
          </a:xfrm>
          <a:prstGeom prst="ellipse">
            <a:avLst/>
          </a:prstGeom>
          <a:solidFill>
            <a:schemeClr val="accent2"/>
          </a:solidFill>
          <a:ln w="12700">
            <a:solidFill>
              <a:schemeClr val="accent2"/>
            </a:solidFill>
            <a:prstDash val="solid"/>
          </a:ln>
        </p:spPr>
      </p:sp>
      <p:pic>
        <p:nvPicPr>
          <p:cNvPr id="27" name="Image 5" descr="icon">    </p:cNvPr>
          <p:cNvPicPr>
            <a:picLocks noChangeAspect="1"/>
          </p:cNvPicPr>
          <p:nvPr/>
        </p:nvPicPr>
        <p:blipFill>
          <a:blip r:embed="rId6"/>
          <a:stretch>
            <a:fillRect/>
          </a:stretch>
        </p:blipFill>
        <p:spPr>
          <a:xfrm>
            <a:off x="6286500" y="3909060"/>
            <a:ext cx="228600" cy="228600"/>
          </a:xfrm>
          <a:prstGeom prst="rect">
            <a:avLst/>
          </a:prstGeom>
        </p:spPr>
      </p:pic>
      <p:sp>
        <p:nvSpPr>
          <p:cNvPr id="28" name="Text 20"/>
          <p:cNvSpPr txBox="1"/>
          <p:nvPr/>
        </p:nvSpPr>
        <p:spPr>
          <a:xfrm>
            <a:off x="6766560" y="3566160"/>
            <a:ext cx="1737360" cy="914400"/>
          </a:xfrm>
          <a:prstGeom prst="rect">
            <a:avLst/>
          </a:prstGeom>
          <a:noFill/>
          <a:ln/>
        </p:spPr>
        <p:txBody>
          <a:bodyPr wrap="square" lIns="0" tIns="0" rIns="0" bIns="0" rtlCol="0" anchor="ctr"/>
          <a:lstStyle/>
          <a:p>
            <a:pPr indent="0" marL="0">
              <a:buNone/>
            </a:pPr>
            <a:r>
              <a:rPr lang="en-US" sz="1400" dirty="0">
                <a:solidFill>
                  <a:schemeClr val="tx1"/>
                </a:solidFill>
              </a:rPr>
              <a:t>Recommend platforms for different application areas</a:t>
            </a:r>
            <a:endParaRPr lang="en-US" sz="1400" dirty="0"/>
          </a:p>
        </p:txBody>
      </p:sp>
      <p:sp>
        <p:nvSpPr>
          <p:cNvPr id="25" name="Slide Number Placeholder 0"/>
          <p:cNvSpPr>
            <a:spLocks noGrp="1"/>
          </p:cNvSpPr>
          <p:nvPr>
            <p:ph type="sldNum" sz="quarter" idx="4294967295"/>
          </p:nvPr>
        </p:nvSpPr>
        <p:spPr>
          <a:xfrm>
            <a:off x="832104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Methodology</a:t>
            </a:r>
            <a:endParaRPr lang="en-US" sz="3600" dirty="0"/>
          </a:p>
        </p:txBody>
      </p:sp>
      <p:sp>
        <p:nvSpPr>
          <p:cNvPr id="3" name="Card"/>
          <p:cNvSpPr/>
          <p:nvPr/>
        </p:nvSpPr>
        <p:spPr>
          <a:xfrm>
            <a:off x="548640" y="1234440"/>
            <a:ext cx="2560320" cy="1600200"/>
          </a:xfrm>
          <a:prstGeom prst="roundRect">
            <a:avLst>
              <a:gd name="adj" fmla="val 6857"/>
            </a:avLst>
          </a:prstGeom>
          <a:solidFill>
            <a:schemeClr val="bg2"/>
          </a:solidFill>
          <a:ln w="12700">
            <a:solidFill>
              <a:schemeClr val="bg2"/>
            </a:solidFill>
            <a:prstDash val="solid"/>
          </a:ln>
        </p:spPr>
      </p:sp>
      <p:sp>
        <p:nvSpPr>
          <p:cNvPr id="4" name="Step number"/>
          <p:cNvSpPr/>
          <p:nvPr/>
        </p:nvSpPr>
        <p:spPr>
          <a:xfrm>
            <a:off x="685800" y="1344168"/>
            <a:ext cx="457200" cy="457200"/>
          </a:xfrm>
          <a:prstGeom prst="ellipse">
            <a:avLst/>
          </a:prstGeom>
          <a:solidFill>
            <a:schemeClr val="accent2"/>
          </a:solidFill>
          <a:ln w="12700">
            <a:solidFill>
              <a:schemeClr val="accent2"/>
            </a:solidFill>
            <a:prstDash val="solid"/>
          </a:ln>
        </p:spPr>
      </p:sp>
      <p:sp>
        <p:nvSpPr>
          <p:cNvPr id="5" name="Text 3"/>
          <p:cNvSpPr txBox="1"/>
          <p:nvPr/>
        </p:nvSpPr>
        <p:spPr>
          <a:xfrm>
            <a:off x="685800" y="134416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1234440" y="1298448"/>
            <a:ext cx="1783080" cy="548640"/>
          </a:xfrm>
          <a:prstGeom prst="rect">
            <a:avLst/>
          </a:prstGeom>
          <a:noFill/>
          <a:ln/>
        </p:spPr>
        <p:txBody>
          <a:bodyPr wrap="square" lIns="0" tIns="0" rIns="0" bIns="0" rtlCol="0" anchor="ctr"/>
          <a:lstStyle/>
          <a:p>
            <a:pPr indent="0" marL="0">
              <a:buNone/>
            </a:pPr>
            <a:r>
              <a:rPr lang="en-US" sz="1500" b="1" dirty="0">
                <a:solidFill>
                  <a:schemeClr val="tx1"/>
                </a:solidFill>
              </a:rPr>
              <a:t>Platform Selection</a:t>
            </a:r>
            <a:endParaRPr lang="en-US" sz="1500" dirty="0"/>
          </a:p>
        </p:txBody>
      </p:sp>
      <p:sp>
        <p:nvSpPr>
          <p:cNvPr id="7" name="Text 5"/>
          <p:cNvSpPr txBox="1"/>
          <p:nvPr/>
        </p:nvSpPr>
        <p:spPr>
          <a:xfrm>
            <a:off x="685800" y="1920240"/>
            <a:ext cx="2286000" cy="868680"/>
          </a:xfrm>
          <a:prstGeom prst="rect">
            <a:avLst/>
          </a:prstGeom>
          <a:noFill/>
          <a:ln/>
        </p:spPr>
        <p:txBody>
          <a:bodyPr wrap="square" lIns="0" tIns="0" rIns="0" bIns="0" rtlCol="0" anchor="t"/>
          <a:lstStyle/>
          <a:p>
            <a:pPr indent="0" marL="0">
              <a:buNone/>
            </a:pPr>
            <a:r>
              <a:rPr lang="en-US" sz="1300" dirty="0">
                <a:solidFill>
                  <a:schemeClr val="tx1"/>
                </a:solidFill>
              </a:rPr>
              <a:t>Selected Arduino Uno R3, ESP32-DevKitC, STM32 Blue Pill, and Raspberry Pi Pico.</a:t>
            </a:r>
            <a:endParaRPr lang="en-US" sz="1300" dirty="0"/>
          </a:p>
        </p:txBody>
      </p:sp>
      <p:sp>
        <p:nvSpPr>
          <p:cNvPr id="8" name="Card"/>
          <p:cNvSpPr/>
          <p:nvPr/>
        </p:nvSpPr>
        <p:spPr>
          <a:xfrm>
            <a:off x="3291840" y="1234440"/>
            <a:ext cx="2560320" cy="1600200"/>
          </a:xfrm>
          <a:prstGeom prst="roundRect">
            <a:avLst>
              <a:gd name="adj" fmla="val 6857"/>
            </a:avLst>
          </a:prstGeom>
          <a:solidFill>
            <a:schemeClr val="bg2"/>
          </a:solidFill>
          <a:ln w="12700">
            <a:solidFill>
              <a:schemeClr val="bg2"/>
            </a:solidFill>
            <a:prstDash val="solid"/>
          </a:ln>
        </p:spPr>
      </p:sp>
      <p:sp>
        <p:nvSpPr>
          <p:cNvPr id="9" name="Step number"/>
          <p:cNvSpPr/>
          <p:nvPr/>
        </p:nvSpPr>
        <p:spPr>
          <a:xfrm>
            <a:off x="3429000" y="1344168"/>
            <a:ext cx="457200" cy="457200"/>
          </a:xfrm>
          <a:prstGeom prst="ellipse">
            <a:avLst/>
          </a:prstGeom>
          <a:solidFill>
            <a:schemeClr val="accent2"/>
          </a:solidFill>
          <a:ln w="12700">
            <a:solidFill>
              <a:schemeClr val="accent2"/>
            </a:solidFill>
            <a:prstDash val="solid"/>
          </a:ln>
        </p:spPr>
      </p:sp>
      <p:sp>
        <p:nvSpPr>
          <p:cNvPr id="10" name="Text 8"/>
          <p:cNvSpPr txBox="1"/>
          <p:nvPr/>
        </p:nvSpPr>
        <p:spPr>
          <a:xfrm>
            <a:off x="3429000" y="134416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9"/>
          <p:cNvSpPr txBox="1"/>
          <p:nvPr/>
        </p:nvSpPr>
        <p:spPr>
          <a:xfrm>
            <a:off x="3977640" y="1298448"/>
            <a:ext cx="1783080" cy="548640"/>
          </a:xfrm>
          <a:prstGeom prst="rect">
            <a:avLst/>
          </a:prstGeom>
          <a:noFill/>
          <a:ln/>
        </p:spPr>
        <p:txBody>
          <a:bodyPr wrap="square" lIns="0" tIns="0" rIns="0" bIns="0" rtlCol="0" anchor="ctr"/>
          <a:lstStyle/>
          <a:p>
            <a:pPr indent="0" marL="0">
              <a:buNone/>
            </a:pPr>
            <a:r>
              <a:rPr lang="en-US" sz="1500" b="1" dirty="0">
                <a:solidFill>
                  <a:schemeClr val="tx1"/>
                </a:solidFill>
              </a:rPr>
              <a:t>AI-Assisted Research</a:t>
            </a:r>
            <a:endParaRPr lang="en-US" sz="1500" dirty="0"/>
          </a:p>
        </p:txBody>
      </p:sp>
      <p:sp>
        <p:nvSpPr>
          <p:cNvPr id="12" name="Text 10"/>
          <p:cNvSpPr txBox="1"/>
          <p:nvPr/>
        </p:nvSpPr>
        <p:spPr>
          <a:xfrm>
            <a:off x="3429000" y="1920240"/>
            <a:ext cx="2286000" cy="868680"/>
          </a:xfrm>
          <a:prstGeom prst="rect">
            <a:avLst/>
          </a:prstGeom>
          <a:noFill/>
          <a:ln/>
        </p:spPr>
        <p:txBody>
          <a:bodyPr wrap="square" lIns="0" tIns="0" rIns="0" bIns="0" rtlCol="0" anchor="t"/>
          <a:lstStyle/>
          <a:p>
            <a:pPr indent="0" marL="0">
              <a:buNone/>
            </a:pPr>
            <a:r>
              <a:rPr lang="en-US" sz="1300" dirty="0">
                <a:solidFill>
                  <a:schemeClr val="tx1"/>
                </a:solidFill>
              </a:rPr>
              <a:t>Used AI tools to help collect and organize the technical specifications.</a:t>
            </a:r>
            <a:endParaRPr lang="en-US" sz="1300" dirty="0"/>
          </a:p>
        </p:txBody>
      </p:sp>
      <p:sp>
        <p:nvSpPr>
          <p:cNvPr id="13" name="Card"/>
          <p:cNvSpPr/>
          <p:nvPr/>
        </p:nvSpPr>
        <p:spPr>
          <a:xfrm>
            <a:off x="6035040" y="1234440"/>
            <a:ext cx="2560320" cy="1600200"/>
          </a:xfrm>
          <a:prstGeom prst="roundRect">
            <a:avLst>
              <a:gd name="adj" fmla="val 6857"/>
            </a:avLst>
          </a:prstGeom>
          <a:solidFill>
            <a:schemeClr val="bg2"/>
          </a:solidFill>
          <a:ln w="12700">
            <a:solidFill>
              <a:schemeClr val="bg2"/>
            </a:solidFill>
            <a:prstDash val="solid"/>
          </a:ln>
        </p:spPr>
      </p:sp>
      <p:sp>
        <p:nvSpPr>
          <p:cNvPr id="14" name="Step number"/>
          <p:cNvSpPr/>
          <p:nvPr/>
        </p:nvSpPr>
        <p:spPr>
          <a:xfrm>
            <a:off x="6172200" y="1344168"/>
            <a:ext cx="457200" cy="457200"/>
          </a:xfrm>
          <a:prstGeom prst="ellipse">
            <a:avLst/>
          </a:prstGeom>
          <a:solidFill>
            <a:schemeClr val="accent2"/>
          </a:solidFill>
          <a:ln w="12700">
            <a:solidFill>
              <a:schemeClr val="accent2"/>
            </a:solidFill>
            <a:prstDash val="solid"/>
          </a:ln>
        </p:spPr>
      </p:sp>
      <p:sp>
        <p:nvSpPr>
          <p:cNvPr id="15" name="Text 13"/>
          <p:cNvSpPr txBox="1"/>
          <p:nvPr/>
        </p:nvSpPr>
        <p:spPr>
          <a:xfrm>
            <a:off x="6172200" y="134416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4"/>
          <p:cNvSpPr txBox="1"/>
          <p:nvPr/>
        </p:nvSpPr>
        <p:spPr>
          <a:xfrm>
            <a:off x="6720840" y="1298448"/>
            <a:ext cx="1783080" cy="548640"/>
          </a:xfrm>
          <a:prstGeom prst="rect">
            <a:avLst/>
          </a:prstGeom>
          <a:noFill/>
          <a:ln/>
        </p:spPr>
        <p:txBody>
          <a:bodyPr wrap="square" lIns="0" tIns="0" rIns="0" bIns="0" rtlCol="0" anchor="ctr"/>
          <a:lstStyle/>
          <a:p>
            <a:pPr indent="0" marL="0">
              <a:buNone/>
            </a:pPr>
            <a:r>
              <a:rPr lang="en-US" sz="1500" b="1" dirty="0">
                <a:solidFill>
                  <a:schemeClr val="tx1"/>
                </a:solidFill>
              </a:rPr>
              <a:t>Official-Source Verification</a:t>
            </a:r>
            <a:endParaRPr lang="en-US" sz="1500" dirty="0"/>
          </a:p>
        </p:txBody>
      </p:sp>
      <p:sp>
        <p:nvSpPr>
          <p:cNvPr id="17" name="Text 15"/>
          <p:cNvSpPr txBox="1"/>
          <p:nvPr/>
        </p:nvSpPr>
        <p:spPr>
          <a:xfrm>
            <a:off x="6172200" y="1920240"/>
            <a:ext cx="2286000" cy="868680"/>
          </a:xfrm>
          <a:prstGeom prst="rect">
            <a:avLst/>
          </a:prstGeom>
          <a:noFill/>
          <a:ln/>
        </p:spPr>
        <p:txBody>
          <a:bodyPr wrap="square" lIns="0" tIns="0" rIns="0" bIns="0" rtlCol="0" anchor="t"/>
          <a:lstStyle/>
          <a:p>
            <a:pPr indent="0" marL="0">
              <a:buNone/>
            </a:pPr>
            <a:r>
              <a:rPr lang="en-US" sz="1300" dirty="0">
                <a:solidFill>
                  <a:schemeClr val="tx1"/>
                </a:solidFill>
              </a:rPr>
              <a:t>Compared findings with documentation from Arduino, Espressif, STMicroelectronics, and Raspberry Pi.</a:t>
            </a:r>
            <a:endParaRPr lang="en-US" sz="1300" dirty="0"/>
          </a:p>
        </p:txBody>
      </p:sp>
      <p:sp>
        <p:nvSpPr>
          <p:cNvPr id="18" name="Card"/>
          <p:cNvSpPr/>
          <p:nvPr/>
        </p:nvSpPr>
        <p:spPr>
          <a:xfrm>
            <a:off x="548640" y="2971800"/>
            <a:ext cx="2560320" cy="1600200"/>
          </a:xfrm>
          <a:prstGeom prst="roundRect">
            <a:avLst>
              <a:gd name="adj" fmla="val 6857"/>
            </a:avLst>
          </a:prstGeom>
          <a:solidFill>
            <a:schemeClr val="bg2"/>
          </a:solidFill>
          <a:ln w="12700">
            <a:solidFill>
              <a:schemeClr val="bg2"/>
            </a:solidFill>
            <a:prstDash val="solid"/>
          </a:ln>
        </p:spPr>
      </p:sp>
      <p:sp>
        <p:nvSpPr>
          <p:cNvPr id="19" name="Step number"/>
          <p:cNvSpPr/>
          <p:nvPr/>
        </p:nvSpPr>
        <p:spPr>
          <a:xfrm>
            <a:off x="685800" y="3081528"/>
            <a:ext cx="457200" cy="457200"/>
          </a:xfrm>
          <a:prstGeom prst="ellipse">
            <a:avLst/>
          </a:prstGeom>
          <a:solidFill>
            <a:schemeClr val="accent2"/>
          </a:solidFill>
          <a:ln w="12700">
            <a:solidFill>
              <a:schemeClr val="accent2"/>
            </a:solidFill>
            <a:prstDash val="solid"/>
          </a:ln>
        </p:spPr>
      </p:sp>
      <p:sp>
        <p:nvSpPr>
          <p:cNvPr id="20" name="Text 18"/>
          <p:cNvSpPr txBox="1"/>
          <p:nvPr/>
        </p:nvSpPr>
        <p:spPr>
          <a:xfrm>
            <a:off x="685800" y="308152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Text 19"/>
          <p:cNvSpPr txBox="1"/>
          <p:nvPr/>
        </p:nvSpPr>
        <p:spPr>
          <a:xfrm>
            <a:off x="1234440" y="3035808"/>
            <a:ext cx="1783080" cy="548640"/>
          </a:xfrm>
          <a:prstGeom prst="rect">
            <a:avLst/>
          </a:prstGeom>
          <a:noFill/>
          <a:ln/>
        </p:spPr>
        <p:txBody>
          <a:bodyPr wrap="square" lIns="0" tIns="0" rIns="0" bIns="0" rtlCol="0" anchor="ctr"/>
          <a:lstStyle/>
          <a:p>
            <a:pPr indent="0" marL="0">
              <a:buNone/>
            </a:pPr>
            <a:r>
              <a:rPr lang="en-US" sz="1500" b="1" dirty="0">
                <a:solidFill>
                  <a:schemeClr val="tx1"/>
                </a:solidFill>
              </a:rPr>
              <a:t>Dataset Preparation</a:t>
            </a:r>
            <a:endParaRPr lang="en-US" sz="1500" dirty="0"/>
          </a:p>
        </p:txBody>
      </p:sp>
      <p:sp>
        <p:nvSpPr>
          <p:cNvPr id="22" name="Text 20"/>
          <p:cNvSpPr txBox="1"/>
          <p:nvPr/>
        </p:nvSpPr>
        <p:spPr>
          <a:xfrm>
            <a:off x="685800" y="3657600"/>
            <a:ext cx="2286000" cy="868680"/>
          </a:xfrm>
          <a:prstGeom prst="rect">
            <a:avLst/>
          </a:prstGeom>
          <a:noFill/>
          <a:ln/>
        </p:spPr>
        <p:txBody>
          <a:bodyPr wrap="square" lIns="0" tIns="0" rIns="0" bIns="0" rtlCol="0" anchor="t"/>
          <a:lstStyle/>
          <a:p>
            <a:pPr indent="0" marL="0">
              <a:buNone/>
            </a:pPr>
            <a:r>
              <a:rPr lang="en-US" sz="1300" dirty="0">
                <a:solidFill>
                  <a:schemeClr val="tx1"/>
                </a:solidFill>
              </a:rPr>
              <a:t>Organized the verified specifications into a structured comparison dataset.</a:t>
            </a:r>
            <a:endParaRPr lang="en-US" sz="1300" dirty="0"/>
          </a:p>
        </p:txBody>
      </p:sp>
      <p:sp>
        <p:nvSpPr>
          <p:cNvPr id="23" name="Card"/>
          <p:cNvSpPr/>
          <p:nvPr/>
        </p:nvSpPr>
        <p:spPr>
          <a:xfrm>
            <a:off x="3291840" y="2971800"/>
            <a:ext cx="2560320" cy="1600200"/>
          </a:xfrm>
          <a:prstGeom prst="roundRect">
            <a:avLst>
              <a:gd name="adj" fmla="val 6857"/>
            </a:avLst>
          </a:prstGeom>
          <a:solidFill>
            <a:schemeClr val="bg2"/>
          </a:solidFill>
          <a:ln w="12700">
            <a:solidFill>
              <a:schemeClr val="bg2"/>
            </a:solidFill>
            <a:prstDash val="solid"/>
          </a:ln>
        </p:spPr>
      </p:sp>
      <p:sp>
        <p:nvSpPr>
          <p:cNvPr id="24" name="Step number"/>
          <p:cNvSpPr/>
          <p:nvPr/>
        </p:nvSpPr>
        <p:spPr>
          <a:xfrm>
            <a:off x="3429000" y="3081528"/>
            <a:ext cx="457200" cy="457200"/>
          </a:xfrm>
          <a:prstGeom prst="ellipse">
            <a:avLst/>
          </a:prstGeom>
          <a:solidFill>
            <a:schemeClr val="accent2"/>
          </a:solidFill>
          <a:ln w="12700">
            <a:solidFill>
              <a:schemeClr val="accent2"/>
            </a:solidFill>
            <a:prstDash val="solid"/>
          </a:ln>
        </p:spPr>
      </p:sp>
      <p:sp>
        <p:nvSpPr>
          <p:cNvPr id="25" name="Text 23"/>
          <p:cNvSpPr txBox="1"/>
          <p:nvPr/>
        </p:nvSpPr>
        <p:spPr>
          <a:xfrm>
            <a:off x="3429000" y="308152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6" name="Text 24"/>
          <p:cNvSpPr txBox="1"/>
          <p:nvPr/>
        </p:nvSpPr>
        <p:spPr>
          <a:xfrm>
            <a:off x="3977640" y="3035808"/>
            <a:ext cx="1783080" cy="548640"/>
          </a:xfrm>
          <a:prstGeom prst="rect">
            <a:avLst/>
          </a:prstGeom>
          <a:noFill/>
          <a:ln/>
        </p:spPr>
        <p:txBody>
          <a:bodyPr wrap="square" lIns="0" tIns="0" rIns="0" bIns="0" rtlCol="0" anchor="ctr"/>
          <a:lstStyle/>
          <a:p>
            <a:pPr indent="0" marL="0">
              <a:buNone/>
            </a:pPr>
            <a:r>
              <a:rPr lang="en-US" sz="1500" b="1" dirty="0">
                <a:solidFill>
                  <a:schemeClr val="tx1"/>
                </a:solidFill>
              </a:rPr>
              <a:t>Python Automation</a:t>
            </a:r>
            <a:endParaRPr lang="en-US" sz="1500" dirty="0"/>
          </a:p>
        </p:txBody>
      </p:sp>
      <p:sp>
        <p:nvSpPr>
          <p:cNvPr id="27" name="Text 25"/>
          <p:cNvSpPr txBox="1"/>
          <p:nvPr/>
        </p:nvSpPr>
        <p:spPr>
          <a:xfrm>
            <a:off x="3429000" y="3657600"/>
            <a:ext cx="2286000" cy="868680"/>
          </a:xfrm>
          <a:prstGeom prst="rect">
            <a:avLst/>
          </a:prstGeom>
          <a:noFill/>
          <a:ln/>
        </p:spPr>
        <p:txBody>
          <a:bodyPr wrap="square" lIns="0" tIns="0" rIns="0" bIns="0" rtlCol="0" anchor="t"/>
          <a:lstStyle/>
          <a:p>
            <a:pPr indent="0" marL="0">
              <a:buNone/>
            </a:pPr>
            <a:r>
              <a:rPr lang="en-US" sz="1300" dirty="0">
                <a:solidFill>
                  <a:schemeClr val="tx1"/>
                </a:solidFill>
              </a:rPr>
              <a:t>Used Python to check for missing values and duplicate platform names.</a:t>
            </a:r>
            <a:endParaRPr lang="en-US" sz="1300" dirty="0"/>
          </a:p>
        </p:txBody>
      </p:sp>
      <p:sp>
        <p:nvSpPr>
          <p:cNvPr id="28" name="Card"/>
          <p:cNvSpPr/>
          <p:nvPr/>
        </p:nvSpPr>
        <p:spPr>
          <a:xfrm>
            <a:off x="6035040" y="2971800"/>
            <a:ext cx="2560320" cy="1600200"/>
          </a:xfrm>
          <a:prstGeom prst="roundRect">
            <a:avLst>
              <a:gd name="adj" fmla="val 6857"/>
            </a:avLst>
          </a:prstGeom>
          <a:solidFill>
            <a:schemeClr val="bg2"/>
          </a:solidFill>
          <a:ln w="12700">
            <a:solidFill>
              <a:schemeClr val="bg2"/>
            </a:solidFill>
            <a:prstDash val="solid"/>
          </a:ln>
        </p:spPr>
      </p:sp>
      <p:sp>
        <p:nvSpPr>
          <p:cNvPr id="29" name="Step number"/>
          <p:cNvSpPr/>
          <p:nvPr/>
        </p:nvSpPr>
        <p:spPr>
          <a:xfrm>
            <a:off x="6172200" y="3081528"/>
            <a:ext cx="457200" cy="457200"/>
          </a:xfrm>
          <a:prstGeom prst="ellipse">
            <a:avLst/>
          </a:prstGeom>
          <a:solidFill>
            <a:schemeClr val="accent2"/>
          </a:solidFill>
          <a:ln w="12700">
            <a:solidFill>
              <a:schemeClr val="accent2"/>
            </a:solidFill>
            <a:prstDash val="solid"/>
          </a:ln>
        </p:spPr>
      </p:sp>
      <p:sp>
        <p:nvSpPr>
          <p:cNvPr id="30" name="Text 28"/>
          <p:cNvSpPr txBox="1"/>
          <p:nvPr/>
        </p:nvSpPr>
        <p:spPr>
          <a:xfrm>
            <a:off x="6172200" y="308152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31" name="Text 29"/>
          <p:cNvSpPr txBox="1"/>
          <p:nvPr/>
        </p:nvSpPr>
        <p:spPr>
          <a:xfrm>
            <a:off x="6720840" y="3035808"/>
            <a:ext cx="1783080" cy="548640"/>
          </a:xfrm>
          <a:prstGeom prst="rect">
            <a:avLst/>
          </a:prstGeom>
          <a:noFill/>
          <a:ln/>
        </p:spPr>
        <p:txBody>
          <a:bodyPr wrap="square" lIns="0" tIns="0" rIns="0" bIns="0" rtlCol="0" anchor="ctr"/>
          <a:lstStyle/>
          <a:p>
            <a:pPr indent="0" marL="0">
              <a:buNone/>
            </a:pPr>
            <a:r>
              <a:rPr lang="en-US" sz="1500" b="1" dirty="0">
                <a:solidFill>
                  <a:schemeClr val="tx1"/>
                </a:solidFill>
              </a:rPr>
              <a:t>Comparison and Recommendations</a:t>
            </a:r>
            <a:endParaRPr lang="en-US" sz="1500" dirty="0"/>
          </a:p>
        </p:txBody>
      </p:sp>
      <p:sp>
        <p:nvSpPr>
          <p:cNvPr id="32" name="Text 30"/>
          <p:cNvSpPr txBox="1"/>
          <p:nvPr/>
        </p:nvSpPr>
        <p:spPr>
          <a:xfrm>
            <a:off x="6172200" y="3657600"/>
            <a:ext cx="2286000" cy="868680"/>
          </a:xfrm>
          <a:prstGeom prst="rect">
            <a:avLst/>
          </a:prstGeom>
          <a:noFill/>
          <a:ln/>
        </p:spPr>
        <p:txBody>
          <a:bodyPr wrap="square" lIns="0" tIns="0" rIns="0" bIns="0" rtlCol="0" anchor="t"/>
          <a:lstStyle/>
          <a:p>
            <a:pPr indent="0" marL="0">
              <a:buNone/>
            </a:pPr>
            <a:r>
              <a:rPr lang="en-US" sz="1300" dirty="0">
                <a:solidFill>
                  <a:schemeClr val="tx1"/>
                </a:solidFill>
              </a:rPr>
              <a:t>Compared the platforms and charted their suitability for selected project types.</a:t>
            </a:r>
            <a:endParaRPr lang="en-US" sz="1300" dirty="0"/>
          </a:p>
        </p:txBody>
      </p:sp>
      <p:sp>
        <p:nvSpPr>
          <p:cNvPr id="25" name="Slide Number Placeholder 0"/>
          <p:cNvSpPr>
            <a:spLocks noGrp="1"/>
          </p:cNvSpPr>
          <p:nvPr>
            <p:ph type="sldNum" sz="quarter" idx="4294967295"/>
          </p:nvPr>
        </p:nvSpPr>
        <p:spPr>
          <a:xfrm>
            <a:off x="832104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Specification Comparison</a:t>
            </a:r>
            <a:endParaRPr lang="en-US" sz="3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8046720" cy="914400"/>
        </p:xfrm>
        <a:graphic>
          <a:graphicData uri="http://schemas.openxmlformats.org/drawingml/2006/table">
            <a:tbl>
              <a:tblPr/>
              <a:tblGrid>
                <a:gridCol w="1463040"/>
                <a:gridCol w="1645920"/>
                <a:gridCol w="1645920"/>
                <a:gridCol w="1645920"/>
                <a:gridCol w="1645920"/>
              </a:tblGrid>
              <a:tr h="457200">
                <a:tc>
                  <a:txBody>
                    <a:bodyPr/>
                    <a:lstStyle/>
                    <a:p>
                      <a:pPr algn="ctr" indent="0" marL="0">
                        <a:buNone/>
                      </a:pPr>
                      <a:r>
                        <a:rPr lang="en-US" sz="1400" b="1" dirty="0">
                          <a:solidFill>
                            <a:srgbClr val="FFFFFF"/>
                          </a:solidFill>
                        </a:rPr>
                        <a:t>Feature</a:t>
                      </a:r>
                      <a:endParaRPr lang="en-US" sz="1400" dirty="0"/>
                    </a:p>
                  </a:txBody>
                  <a:tcPr marL="91440" marR="91440" marT="45720" marB="45720" anchor="ctr">
                    <a:lnL w="12700" cap="flat" cmpd="sng" algn="ctr">
                      <a:solidFill>
                        <a:srgbClr val="CDBFE6"/>
                      </a:solidFill>
                      <a:prstDash val="solid"/>
                      <a:round/>
                      <a:headEnd type="none" w="med" len="med"/>
                      <a:tailEnd type="none" w="med" len="med"/>
                    </a:lnL>
                    <a:lnR w="12700" cap="flat" cmpd="sng" algn="ctr">
                      <a:solidFill>
                        <a:srgbClr val="CDBFE6"/>
                      </a:solidFill>
                      <a:prstDash val="solid"/>
                      <a:round/>
                      <a:headEnd type="none" w="med" len="med"/>
                      <a:tailEnd type="none" w="med" len="med"/>
                    </a:lnR>
                    <a:lnT w="12700" cap="flat" cmpd="sng" algn="ctr">
                      <a:solidFill>
                        <a:srgbClr val="CDBFE6"/>
                      </a:solidFill>
                      <a:prstDash val="solid"/>
                      <a:round/>
                      <a:headEnd type="none" w="med" len="med"/>
                      <a:tailEnd type="none" w="med" len="med"/>
                    </a:lnT>
                    <a:lnB w="12700" cap="flat" cmpd="sng" algn="ctr">
                      <a:solidFill>
                        <a:srgbClr val="CDBFE6"/>
                      </a:solidFill>
                      <a:prstDash val="solid"/>
                      <a:round/>
                      <a:headEnd type="none" w="med" len="med"/>
                      <a:tailEnd type="none" w="med" len="med"/>
                    </a:lnB>
                    <a:solidFill>
                      <a:srgbClr val="4A2C6B"/>
                    </a:solidFill>
                  </a:tcPr>
                </a:tc>
                <a:tc>
                  <a:txBody>
                    <a:bodyPr/>
                    <a:lstStyle/>
                    <a:p>
                      <a:pPr algn="ctr" indent="0" marL="0">
                        <a:buNone/>
                      </a:pPr>
                      <a:r>
                        <a:rPr lang="en-US" sz="1400" b="1" dirty="0">
                          <a:solidFill>
                            <a:srgbClr val="FFFFFF"/>
                          </a:solidFill>
                        </a:rPr>
                        <a:t>Arduino Uno R3</a:t>
                      </a:r>
                      <a:endParaRPr lang="en-US" sz="1400" dirty="0"/>
                    </a:p>
                  </a:txBody>
                  <a:tcPr marL="91440" marR="91440" marT="45720" marB="45720" anchor="ctr">
                    <a:lnL w="12700" cap="flat" cmpd="sng" algn="ctr">
                      <a:solidFill>
                        <a:srgbClr val="CDBFE6"/>
                      </a:solidFill>
                      <a:prstDash val="solid"/>
                      <a:round/>
                      <a:headEnd type="none" w="med" len="med"/>
                      <a:tailEnd type="none" w="med" len="med"/>
                    </a:lnL>
                    <a:lnR w="12700" cap="flat" cmpd="sng" algn="ctr">
                      <a:solidFill>
                        <a:srgbClr val="CDBFE6"/>
                      </a:solidFill>
                      <a:prstDash val="solid"/>
                      <a:round/>
                      <a:headEnd type="none" w="med" len="med"/>
                      <a:tailEnd type="none" w="med" len="med"/>
                    </a:lnR>
                    <a:lnT w="12700" cap="flat" cmpd="sng" algn="ctr">
                      <a:solidFill>
                        <a:srgbClr val="CDBFE6"/>
                      </a:solidFill>
                      <a:prstDash val="solid"/>
                      <a:round/>
                      <a:headEnd type="none" w="med" len="med"/>
                      <a:tailEnd type="none" w="med" len="med"/>
                    </a:lnT>
                    <a:lnB w="12700" cap="flat" cmpd="sng" algn="ctr">
                      <a:solidFill>
                        <a:srgbClr val="CDBFE6"/>
                      </a:solidFill>
                      <a:prstDash val="solid"/>
                      <a:round/>
                      <a:headEnd type="none" w="med" len="med"/>
                      <a:tailEnd type="none" w="med" len="med"/>
                    </a:lnB>
                    <a:solidFill>
                      <a:srgbClr val="4A2C6B"/>
                    </a:solidFill>
                  </a:tcPr>
                </a:tc>
                <a:tc>
                  <a:txBody>
                    <a:bodyPr/>
                    <a:lstStyle/>
                    <a:p>
                      <a:pPr algn="ctr" indent="0" marL="0">
                        <a:buNone/>
                      </a:pPr>
                      <a:r>
                        <a:rPr lang="en-US" sz="1400" b="1" dirty="0">
                          <a:solidFill>
                            <a:srgbClr val="FFFFFF"/>
                          </a:solidFill>
                        </a:rPr>
                        <a:t>ESP32-DevKitC</a:t>
                      </a:r>
                      <a:endParaRPr lang="en-US" sz="1400" dirty="0"/>
                    </a:p>
                  </a:txBody>
                  <a:tcPr marL="91440" marR="91440" marT="45720" marB="45720" anchor="ctr">
                    <a:lnL w="12700" cap="flat" cmpd="sng" algn="ctr">
                      <a:solidFill>
                        <a:srgbClr val="CDBFE6"/>
                      </a:solidFill>
                      <a:prstDash val="solid"/>
                      <a:round/>
                      <a:headEnd type="none" w="med" len="med"/>
                      <a:tailEnd type="none" w="med" len="med"/>
                    </a:lnL>
                    <a:lnR w="12700" cap="flat" cmpd="sng" algn="ctr">
                      <a:solidFill>
                        <a:srgbClr val="CDBFE6"/>
                      </a:solidFill>
                      <a:prstDash val="solid"/>
                      <a:round/>
                      <a:headEnd type="none" w="med" len="med"/>
                      <a:tailEnd type="none" w="med" len="med"/>
                    </a:lnR>
                    <a:lnT w="12700" cap="flat" cmpd="sng" algn="ctr">
                      <a:solidFill>
                        <a:srgbClr val="CDBFE6"/>
                      </a:solidFill>
                      <a:prstDash val="solid"/>
                      <a:round/>
                      <a:headEnd type="none" w="med" len="med"/>
                      <a:tailEnd type="none" w="med" len="med"/>
                    </a:lnT>
                    <a:lnB w="12700" cap="flat" cmpd="sng" algn="ctr">
                      <a:solidFill>
                        <a:srgbClr val="CDBFE6"/>
                      </a:solidFill>
                      <a:prstDash val="solid"/>
                      <a:round/>
                      <a:headEnd type="none" w="med" len="med"/>
                      <a:tailEnd type="none" w="med" len="med"/>
                    </a:lnB>
                    <a:solidFill>
                      <a:srgbClr val="4A2C6B"/>
                    </a:solidFill>
                  </a:tcPr>
                </a:tc>
                <a:tc>
                  <a:txBody>
                    <a:bodyPr/>
                    <a:lstStyle/>
                    <a:p>
                      <a:pPr algn="ctr" indent="0" marL="0">
                        <a:buNone/>
                      </a:pPr>
                      <a:r>
                        <a:rPr lang="en-US" sz="1400" b="1" dirty="0">
                          <a:solidFill>
                            <a:srgbClr val="FFFFFF"/>
                          </a:solidFill>
                        </a:rPr>
                        <a:t>STM32 Blue Pill</a:t>
                      </a:r>
                      <a:endParaRPr lang="en-US" sz="1400" dirty="0"/>
                    </a:p>
                  </a:txBody>
                  <a:tcPr marL="91440" marR="91440" marT="45720" marB="45720" anchor="ctr">
                    <a:lnL w="12700" cap="flat" cmpd="sng" algn="ctr">
                      <a:solidFill>
                        <a:srgbClr val="CDBFE6"/>
                      </a:solidFill>
                      <a:prstDash val="solid"/>
                      <a:round/>
                      <a:headEnd type="none" w="med" len="med"/>
                      <a:tailEnd type="none" w="med" len="med"/>
                    </a:lnL>
                    <a:lnR w="12700" cap="flat" cmpd="sng" algn="ctr">
                      <a:solidFill>
                        <a:srgbClr val="CDBFE6"/>
                      </a:solidFill>
                      <a:prstDash val="solid"/>
                      <a:round/>
                      <a:headEnd type="none" w="med" len="med"/>
                      <a:tailEnd type="none" w="med" len="med"/>
                    </a:lnR>
                    <a:lnT w="12700" cap="flat" cmpd="sng" algn="ctr">
                      <a:solidFill>
                        <a:srgbClr val="CDBFE6"/>
                      </a:solidFill>
                      <a:prstDash val="solid"/>
                      <a:round/>
                      <a:headEnd type="none" w="med" len="med"/>
                      <a:tailEnd type="none" w="med" len="med"/>
                    </a:lnT>
                    <a:lnB w="12700" cap="flat" cmpd="sng" algn="ctr">
                      <a:solidFill>
                        <a:srgbClr val="CDBFE6"/>
                      </a:solidFill>
                      <a:prstDash val="solid"/>
                      <a:round/>
                      <a:headEnd type="none" w="med" len="med"/>
                      <a:tailEnd type="none" w="med" len="med"/>
                    </a:lnB>
                    <a:solidFill>
                      <a:srgbClr val="4A2C6B"/>
                    </a:solidFill>
                  </a:tcPr>
                </a:tc>
                <a:tc>
                  <a:txBody>
                    <a:bodyPr/>
                    <a:lstStyle/>
                    <a:p>
                      <a:pPr algn="ctr" indent="0" marL="0">
                        <a:buNone/>
                      </a:pPr>
                      <a:r>
                        <a:rPr lang="en-US" sz="1400" b="1" dirty="0">
                          <a:solidFill>
                            <a:srgbClr val="FFFFFF"/>
                          </a:solidFill>
                        </a:rPr>
                        <a:t>Raspberry Pi Pico</a:t>
                      </a:r>
                      <a:endParaRPr lang="en-US" sz="1400" dirty="0"/>
                    </a:p>
                  </a:txBody>
                  <a:tcPr marL="91440" marR="91440" marT="45720" marB="45720" anchor="ctr">
                    <a:lnL w="12700" cap="flat" cmpd="sng" algn="ctr">
                      <a:solidFill>
                        <a:srgbClr val="CDBFE6"/>
                      </a:solidFill>
                      <a:prstDash val="solid"/>
                      <a:round/>
                      <a:headEnd type="none" w="med" len="med"/>
                      <a:tailEnd type="none" w="med" len="med"/>
                    </a:lnL>
                    <a:lnR w="12700" cap="flat" cmpd="sng" algn="ctr">
                      <a:solidFill>
                        <a:srgbClr val="CDBFE6"/>
                      </a:solidFill>
                      <a:prstDash val="solid"/>
                      <a:round/>
                      <a:headEnd type="none" w="med" len="med"/>
                      <a:tailEnd type="none" w="med" len="med"/>
                    </a:lnR>
                    <a:lnT w="12700" cap="flat" cmpd="sng" algn="ctr">
                      <a:solidFill>
                        <a:srgbClr val="CDBFE6"/>
                      </a:solidFill>
                      <a:prstDash val="solid"/>
                      <a:round/>
                      <a:headEnd type="none" w="med" len="med"/>
                      <a:tailEnd type="none" w="med" len="med"/>
                    </a:lnT>
                    <a:lnB w="12700" cap="flat" cmpd="sng" algn="ctr">
                      <a:solidFill>
                        <a:srgbClr val="CDBFE6"/>
                      </a:solidFill>
                      <a:prstDash val="solid"/>
                      <a:round/>
                      <a:headEnd type="none" w="med" len="med"/>
                      <a:tailEnd type="none" w="med" len="med"/>
                    </a:lnB>
                    <a:solidFill>
                      <a:srgbClr val="4A2C6B"/>
                    </a:solidFill>
                  </a:tcPr>
                </a:tc>
              </a:tr>
              <a:tr h="594360">
                <a:tc>
                  <a:txBody>
                    <a:bodyPr/>
                    <a:lstStyle/>
                    <a:p>
                      <a:pPr indent="0" marL="0">
                        <a:buNone/>
                      </a:pPr>
                      <a:r>
                        <a:rPr lang="en-US" sz="1300" b="1" dirty="0">
                          <a:solidFill>
                            <a:srgbClr val="2B1B3D"/>
                          </a:solidFill>
                        </a:rPr>
                        <a:t>Processor</a:t>
                      </a:r>
                      <a:endParaRPr lang="en-US" sz="1300" dirty="0"/>
                    </a:p>
                  </a:txBody>
                  <a:tcPr marL="91440" marR="91440" marT="45720" marB="45720" anchor="ctr">
                    <a:lnL w="12700" cap="flat" cmpd="sng" algn="ctr">
                      <a:solidFill>
                        <a:srgbClr val="CDBFE6"/>
                      </a:solidFill>
                      <a:prstDash val="solid"/>
                      <a:round/>
                      <a:headEnd type="none" w="med" len="med"/>
                      <a:tailEnd type="none" w="med" len="med"/>
                    </a:lnL>
                    <a:lnR w="12700" cap="flat" cmpd="sng" algn="ctr">
                      <a:solidFill>
                        <a:srgbClr val="CDBFE6"/>
                      </a:solidFill>
                      <a:prstDash val="solid"/>
                      <a:round/>
                      <a:headEnd type="none" w="med" len="med"/>
                      <a:tailEnd type="none" w="med" len="med"/>
                    </a:lnR>
                    <a:lnT w="12700" cap="flat" cmpd="sng" algn="ctr">
                      <a:solidFill>
                        <a:srgbClr val="CDBFE6"/>
                      </a:solidFill>
                      <a:prstDash val="solid"/>
                      <a:round/>
                      <a:headEnd type="none" w="med" len="med"/>
                      <a:tailEnd type="none" w="med" len="med"/>
                    </a:lnT>
                    <a:lnB w="12700" cap="flat" cmpd="sng" algn="ctr">
                      <a:solidFill>
                        <a:srgbClr val="CDBFE6"/>
                      </a:solidFill>
                      <a:prstDash val="solid"/>
                      <a:round/>
                      <a:headEnd type="none" w="med" len="med"/>
                      <a:tailEnd type="none" w="med" len="med"/>
                    </a:lnB>
                    <a:solidFill>
                      <a:srgbClr val="F5EFFB"/>
                    </a:solidFill>
                  </a:tcPr>
                </a:tc>
                <a:tc>
                  <a:txBody>
                    <a:bodyPr/>
                    <a:lstStyle/>
                    <a:p>
                      <a:pPr indent="0" marL="0">
                        <a:buNone/>
                      </a:pPr>
                      <a:r>
                        <a:rPr lang="en-US" sz="1300" dirty="0">
                          <a:solidFill>
                            <a:srgbClr val="2B1B3D"/>
                          </a:solidFill>
                        </a:rPr>
                        <a:t>ATmega328P, 8-bit AVR</a:t>
                      </a:r>
                      <a:endParaRPr lang="en-US" sz="1300" dirty="0"/>
                    </a:p>
                  </a:txBody>
                  <a:tcPr marL="91440" marR="91440" marT="45720" marB="45720" anchor="ctr">
                    <a:lnL w="12700" cap="flat" cmpd="sng" algn="ctr">
                      <a:solidFill>
                        <a:srgbClr val="CDBFE6"/>
                      </a:solidFill>
                      <a:prstDash val="solid"/>
                      <a:round/>
                      <a:headEnd type="none" w="med" len="med"/>
                      <a:tailEnd type="none" w="med" len="med"/>
                    </a:lnL>
                    <a:lnR w="12700" cap="flat" cmpd="sng" algn="ctr">
                      <a:solidFill>
                        <a:srgbClr val="CDBFE6"/>
                      </a:solidFill>
                      <a:prstDash val="solid"/>
                      <a:round/>
                      <a:headEnd type="none" w="med" len="med"/>
                      <a:tailEnd type="none" w="med" len="med"/>
                    </a:lnR>
                    <a:lnT w="12700" cap="flat" cmpd="sng" algn="ctr">
                      <a:solidFill>
                        <a:srgbClr val="CDBFE6"/>
                      </a:solidFill>
                      <a:prstDash val="solid"/>
                      <a:round/>
                      <a:headEnd type="none" w="med" len="med"/>
                      <a:tailEnd type="none" w="med" len="med"/>
                    </a:lnT>
                    <a:lnB w="12700" cap="flat" cmpd="sng" algn="ctr">
                      <a:solidFill>
                        <a:srgbClr val="CDBFE6"/>
                      </a:solidFill>
                      <a:prstDash val="solid"/>
                      <a:round/>
                      <a:headEnd type="none" w="med" len="med"/>
                      <a:tailEnd type="none" w="med" len="med"/>
                    </a:lnB>
                    <a:solidFill>
                      <a:srgbClr val="FFFFFF"/>
                    </a:solidFill>
                  </a:tcPr>
                </a:tc>
                <a:tc>
                  <a:txBody>
                    <a:bodyPr/>
                    <a:lstStyle/>
                    <a:p>
                      <a:pPr indent="0" marL="0">
                        <a:buNone/>
                      </a:pPr>
                      <a:r>
                        <a:rPr lang="en-US" sz="1300" dirty="0">
                          <a:solidFill>
                            <a:srgbClr val="2B1B3D"/>
                          </a:solidFill>
                        </a:rPr>
                        <a:t>Dual-core Xtensa LX6, 32-bit</a:t>
                      </a:r>
                      <a:endParaRPr lang="en-US" sz="1300" dirty="0"/>
                    </a:p>
                  </a:txBody>
                  <a:tcPr marL="91440" marR="91440" marT="45720" marB="45720" anchor="ctr">
                    <a:lnL w="12700" cap="flat" cmpd="sng" algn="ctr">
                      <a:solidFill>
                        <a:srgbClr val="CDBFE6"/>
                      </a:solidFill>
                      <a:prstDash val="solid"/>
                      <a:round/>
                      <a:headEnd type="none" w="med" len="med"/>
                      <a:tailEnd type="none" w="med" len="med"/>
                    </a:lnL>
                    <a:lnR w="12700" cap="flat" cmpd="sng" algn="ctr">
                      <a:solidFill>
                        <a:srgbClr val="CDBFE6"/>
                      </a:solidFill>
                      <a:prstDash val="solid"/>
                      <a:round/>
                      <a:headEnd type="none" w="med" len="med"/>
                      <a:tailEnd type="none" w="med" len="med"/>
                    </a:lnR>
                    <a:lnT w="12700" cap="flat" cmpd="sng" algn="ctr">
                      <a:solidFill>
                        <a:srgbClr val="CDBFE6"/>
                      </a:solidFill>
                      <a:prstDash val="solid"/>
                      <a:round/>
                      <a:headEnd type="none" w="med" len="med"/>
                      <a:tailEnd type="none" w="med" len="med"/>
                    </a:lnT>
                    <a:lnB w="12700" cap="flat" cmpd="sng" algn="ctr">
                      <a:solidFill>
                        <a:srgbClr val="CDBFE6"/>
                      </a:solidFill>
                      <a:prstDash val="solid"/>
                      <a:round/>
                      <a:headEnd type="none" w="med" len="med"/>
                      <a:tailEnd type="none" w="med" len="med"/>
                    </a:lnB>
                    <a:solidFill>
                      <a:srgbClr val="FFFFFF"/>
                    </a:solidFill>
                  </a:tcPr>
                </a:tc>
                <a:tc>
                  <a:txBody>
                    <a:bodyPr/>
                    <a:lstStyle/>
                    <a:p>
                      <a:pPr indent="0" marL="0">
                        <a:buNone/>
                      </a:pPr>
                      <a:r>
                        <a:rPr lang="en-US" sz="1300" dirty="0">
                          <a:solidFill>
                            <a:srgbClr val="2B1B3D"/>
                          </a:solidFill>
                        </a:rPr>
                        <a:t>ARM Cortex-M3, 32-bit</a:t>
                      </a:r>
                      <a:endParaRPr lang="en-US" sz="1300" dirty="0"/>
                    </a:p>
                  </a:txBody>
                  <a:tcPr marL="91440" marR="91440" marT="45720" marB="45720" anchor="ctr">
                    <a:lnL w="12700" cap="flat" cmpd="sng" algn="ctr">
                      <a:solidFill>
                        <a:srgbClr val="CDBFE6"/>
                      </a:solidFill>
                      <a:prstDash val="solid"/>
                      <a:round/>
                      <a:headEnd type="none" w="med" len="med"/>
                      <a:tailEnd type="none" w="med" len="med"/>
                    </a:lnL>
                    <a:lnR w="12700" cap="flat" cmpd="sng" algn="ctr">
                      <a:solidFill>
                        <a:srgbClr val="CDBFE6"/>
                      </a:solidFill>
                      <a:prstDash val="solid"/>
                      <a:round/>
                      <a:headEnd type="none" w="med" len="med"/>
                      <a:tailEnd type="none" w="med" len="med"/>
                    </a:lnR>
                    <a:lnT w="12700" cap="flat" cmpd="sng" algn="ctr">
                      <a:solidFill>
                        <a:srgbClr val="CDBFE6"/>
                      </a:solidFill>
                      <a:prstDash val="solid"/>
                      <a:round/>
                      <a:headEnd type="none" w="med" len="med"/>
                      <a:tailEnd type="none" w="med" len="med"/>
                    </a:lnT>
                    <a:lnB w="12700" cap="flat" cmpd="sng" algn="ctr">
                      <a:solidFill>
                        <a:srgbClr val="CDBFE6"/>
                      </a:solidFill>
                      <a:prstDash val="solid"/>
                      <a:round/>
                      <a:headEnd type="none" w="med" len="med"/>
                      <a:tailEnd type="none" w="med" len="med"/>
                    </a:lnB>
                    <a:solidFill>
                      <a:srgbClr val="FFFFFF"/>
                    </a:solidFill>
                  </a:tcPr>
                </a:tc>
                <a:tc>
                  <a:txBody>
                    <a:bodyPr/>
                    <a:lstStyle/>
                    <a:p>
                      <a:pPr indent="0" marL="0">
                        <a:buNone/>
                      </a:pPr>
                      <a:r>
                        <a:rPr lang="en-US" sz="1300" dirty="0">
                          <a:solidFill>
                            <a:srgbClr val="2B1B3D"/>
                          </a:solidFill>
                        </a:rPr>
                        <a:t>Dual-core ARM Cortex-M0+</a:t>
                      </a:r>
                      <a:endParaRPr lang="en-US" sz="1300" dirty="0"/>
                    </a:p>
                  </a:txBody>
                  <a:tcPr marL="91440" marR="91440" marT="45720" marB="45720" anchor="ctr">
                    <a:lnL w="12700" cap="flat" cmpd="sng" algn="ctr">
                      <a:solidFill>
                        <a:srgbClr val="CDBFE6"/>
                      </a:solidFill>
                      <a:prstDash val="solid"/>
                      <a:round/>
                      <a:headEnd type="none" w="med" len="med"/>
                      <a:tailEnd type="none" w="med" len="med"/>
                    </a:lnL>
                    <a:lnR w="12700" cap="flat" cmpd="sng" algn="ctr">
                      <a:solidFill>
                        <a:srgbClr val="CDBFE6"/>
                      </a:solidFill>
                      <a:prstDash val="solid"/>
                      <a:round/>
                      <a:headEnd type="none" w="med" len="med"/>
                      <a:tailEnd type="none" w="med" len="med"/>
                    </a:lnR>
                    <a:lnT w="12700" cap="flat" cmpd="sng" algn="ctr">
                      <a:solidFill>
                        <a:srgbClr val="CDBFE6"/>
                      </a:solidFill>
                      <a:prstDash val="solid"/>
                      <a:round/>
                      <a:headEnd type="none" w="med" len="med"/>
                      <a:tailEnd type="none" w="med" len="med"/>
                    </a:lnT>
                    <a:lnB w="12700" cap="flat" cmpd="sng" algn="ctr">
                      <a:solidFill>
                        <a:srgbClr val="CDBFE6"/>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2B1B3D"/>
                          </a:solidFill>
                        </a:rPr>
                        <a:t>Clock Speed</a:t>
                      </a:r>
                      <a:endParaRPr lang="en-US" sz="1300" dirty="0"/>
                    </a:p>
                  </a:txBody>
                  <a:tcPr marL="91440" marR="91440" marT="45720" marB="45720" anchor="ctr">
                    <a:lnL w="12700" cap="flat" cmpd="sng" algn="ctr">
                      <a:solidFill>
                        <a:srgbClr val="CDBFE6"/>
                      </a:solidFill>
                      <a:prstDash val="solid"/>
                      <a:round/>
                      <a:headEnd type="none" w="med" len="med"/>
                      <a:tailEnd type="none" w="med" len="med"/>
                    </a:lnL>
                    <a:lnR w="12700" cap="flat" cmpd="sng" algn="ctr">
                      <a:solidFill>
                        <a:srgbClr val="CDBFE6"/>
                      </a:solidFill>
                      <a:prstDash val="solid"/>
                      <a:round/>
                      <a:headEnd type="none" w="med" len="med"/>
                      <a:tailEnd type="none" w="med" len="med"/>
                    </a:lnR>
                    <a:lnT w="12700" cap="flat" cmpd="sng" algn="ctr">
                      <a:solidFill>
                        <a:srgbClr val="CDBFE6"/>
                      </a:solidFill>
                      <a:prstDash val="solid"/>
                      <a:round/>
                      <a:headEnd type="none" w="med" len="med"/>
                      <a:tailEnd type="none" w="med" len="med"/>
                    </a:lnT>
                    <a:lnB w="12700" cap="flat" cmpd="sng" algn="ctr">
                      <a:solidFill>
                        <a:srgbClr val="CDBFE6"/>
                      </a:solidFill>
                      <a:prstDash val="solid"/>
                      <a:round/>
                      <a:headEnd type="none" w="med" len="med"/>
                      <a:tailEnd type="none" w="med" len="med"/>
                    </a:lnB>
                    <a:solidFill>
                      <a:srgbClr val="F5EFFB"/>
                    </a:solidFill>
                  </a:tcPr>
                </a:tc>
                <a:tc>
                  <a:txBody>
                    <a:bodyPr/>
                    <a:lstStyle/>
                    <a:p>
                      <a:pPr indent="0" marL="0">
                        <a:buNone/>
                      </a:pPr>
                      <a:r>
                        <a:rPr lang="en-US" sz="1300" dirty="0">
                          <a:solidFill>
                            <a:srgbClr val="2B1B3D"/>
                          </a:solidFill>
                        </a:rPr>
                        <a:t>16 MHz</a:t>
                      </a:r>
                      <a:endParaRPr lang="en-US" sz="1300" dirty="0"/>
                    </a:p>
                  </a:txBody>
                  <a:tcPr marL="91440" marR="91440" marT="45720" marB="45720" anchor="ctr">
                    <a:lnL w="12700" cap="flat" cmpd="sng" algn="ctr">
                      <a:solidFill>
                        <a:srgbClr val="CDBFE6"/>
                      </a:solidFill>
                      <a:prstDash val="solid"/>
                      <a:round/>
                      <a:headEnd type="none" w="med" len="med"/>
                      <a:tailEnd type="none" w="med" len="med"/>
                    </a:lnL>
                    <a:lnR w="12700" cap="flat" cmpd="sng" algn="ctr">
                      <a:solidFill>
                        <a:srgbClr val="CDBFE6"/>
                      </a:solidFill>
                      <a:prstDash val="solid"/>
                      <a:round/>
                      <a:headEnd type="none" w="med" len="med"/>
                      <a:tailEnd type="none" w="med" len="med"/>
                    </a:lnR>
                    <a:lnT w="12700" cap="flat" cmpd="sng" algn="ctr">
                      <a:solidFill>
                        <a:srgbClr val="CDBFE6"/>
                      </a:solidFill>
                      <a:prstDash val="solid"/>
                      <a:round/>
                      <a:headEnd type="none" w="med" len="med"/>
                      <a:tailEnd type="none" w="med" len="med"/>
                    </a:lnT>
                    <a:lnB w="12700" cap="flat" cmpd="sng" algn="ctr">
                      <a:solidFill>
                        <a:srgbClr val="CDBFE6"/>
                      </a:solidFill>
                      <a:prstDash val="solid"/>
                      <a:round/>
                      <a:headEnd type="none" w="med" len="med"/>
                      <a:tailEnd type="none" w="med" len="med"/>
                    </a:lnB>
                    <a:solidFill>
                      <a:srgbClr val="FFFFFF"/>
                    </a:solidFill>
                  </a:tcPr>
                </a:tc>
                <a:tc>
                  <a:txBody>
                    <a:bodyPr/>
                    <a:lstStyle/>
                    <a:p>
                      <a:pPr indent="0" marL="0">
                        <a:buNone/>
                      </a:pPr>
                      <a:r>
                        <a:rPr lang="en-US" sz="1300" dirty="0">
                          <a:solidFill>
                            <a:srgbClr val="2B1B3D"/>
                          </a:solidFill>
                        </a:rPr>
                        <a:t>Up to 240 MHz</a:t>
                      </a:r>
                      <a:endParaRPr lang="en-US" sz="1300" dirty="0"/>
                    </a:p>
                  </a:txBody>
                  <a:tcPr marL="91440" marR="91440" marT="45720" marB="45720" anchor="ctr">
                    <a:lnL w="12700" cap="flat" cmpd="sng" algn="ctr">
                      <a:solidFill>
                        <a:srgbClr val="CDBFE6"/>
                      </a:solidFill>
                      <a:prstDash val="solid"/>
                      <a:round/>
                      <a:headEnd type="none" w="med" len="med"/>
                      <a:tailEnd type="none" w="med" len="med"/>
                    </a:lnL>
                    <a:lnR w="12700" cap="flat" cmpd="sng" algn="ctr">
                      <a:solidFill>
                        <a:srgbClr val="CDBFE6"/>
                      </a:solidFill>
                      <a:prstDash val="solid"/>
                      <a:round/>
                      <a:headEnd type="none" w="med" len="med"/>
                      <a:tailEnd type="none" w="med" len="med"/>
                    </a:lnR>
                    <a:lnT w="12700" cap="flat" cmpd="sng" algn="ctr">
                      <a:solidFill>
                        <a:srgbClr val="CDBFE6"/>
                      </a:solidFill>
                      <a:prstDash val="solid"/>
                      <a:round/>
                      <a:headEnd type="none" w="med" len="med"/>
                      <a:tailEnd type="none" w="med" len="med"/>
                    </a:lnT>
                    <a:lnB w="12700" cap="flat" cmpd="sng" algn="ctr">
                      <a:solidFill>
                        <a:srgbClr val="CDBFE6"/>
                      </a:solidFill>
                      <a:prstDash val="solid"/>
                      <a:round/>
                      <a:headEnd type="none" w="med" len="med"/>
                      <a:tailEnd type="none" w="med" len="med"/>
                    </a:lnB>
                    <a:solidFill>
                      <a:srgbClr val="FFFFFF"/>
                    </a:solidFill>
                  </a:tcPr>
                </a:tc>
                <a:tc>
                  <a:txBody>
                    <a:bodyPr/>
                    <a:lstStyle/>
                    <a:p>
                      <a:pPr indent="0" marL="0">
                        <a:buNone/>
                      </a:pPr>
                      <a:r>
                        <a:rPr lang="en-US" sz="1300" dirty="0">
                          <a:solidFill>
                            <a:srgbClr val="2B1B3D"/>
                          </a:solidFill>
                        </a:rPr>
                        <a:t>Up to 72 MHz</a:t>
                      </a:r>
                      <a:endParaRPr lang="en-US" sz="1300" dirty="0"/>
                    </a:p>
                  </a:txBody>
                  <a:tcPr marL="91440" marR="91440" marT="45720" marB="45720" anchor="ctr">
                    <a:lnL w="12700" cap="flat" cmpd="sng" algn="ctr">
                      <a:solidFill>
                        <a:srgbClr val="CDBFE6"/>
                      </a:solidFill>
                      <a:prstDash val="solid"/>
                      <a:round/>
                      <a:headEnd type="none" w="med" len="med"/>
                      <a:tailEnd type="none" w="med" len="med"/>
                    </a:lnL>
                    <a:lnR w="12700" cap="flat" cmpd="sng" algn="ctr">
                      <a:solidFill>
                        <a:srgbClr val="CDBFE6"/>
                      </a:solidFill>
                      <a:prstDash val="solid"/>
                      <a:round/>
                      <a:headEnd type="none" w="med" len="med"/>
                      <a:tailEnd type="none" w="med" len="med"/>
                    </a:lnR>
                    <a:lnT w="12700" cap="flat" cmpd="sng" algn="ctr">
                      <a:solidFill>
                        <a:srgbClr val="CDBFE6"/>
                      </a:solidFill>
                      <a:prstDash val="solid"/>
                      <a:round/>
                      <a:headEnd type="none" w="med" len="med"/>
                      <a:tailEnd type="none" w="med" len="med"/>
                    </a:lnT>
                    <a:lnB w="12700" cap="flat" cmpd="sng" algn="ctr">
                      <a:solidFill>
                        <a:srgbClr val="CDBFE6"/>
                      </a:solidFill>
                      <a:prstDash val="solid"/>
                      <a:round/>
                      <a:headEnd type="none" w="med" len="med"/>
                      <a:tailEnd type="none" w="med" len="med"/>
                    </a:lnB>
                    <a:solidFill>
                      <a:srgbClr val="FFFFFF"/>
                    </a:solidFill>
                  </a:tcPr>
                </a:tc>
                <a:tc>
                  <a:txBody>
                    <a:bodyPr/>
                    <a:lstStyle/>
                    <a:p>
                      <a:pPr indent="0" marL="0">
                        <a:buNone/>
                      </a:pPr>
                      <a:r>
                        <a:rPr lang="en-US" sz="1300" dirty="0">
                          <a:solidFill>
                            <a:srgbClr val="2B1B3D"/>
                          </a:solidFill>
                        </a:rPr>
                        <a:t>Up to 133 MHz</a:t>
                      </a:r>
                      <a:endParaRPr lang="en-US" sz="1300" dirty="0"/>
                    </a:p>
                  </a:txBody>
                  <a:tcPr marL="91440" marR="91440" marT="45720" marB="45720" anchor="ctr">
                    <a:lnL w="12700" cap="flat" cmpd="sng" algn="ctr">
                      <a:solidFill>
                        <a:srgbClr val="CDBFE6"/>
                      </a:solidFill>
                      <a:prstDash val="solid"/>
                      <a:round/>
                      <a:headEnd type="none" w="med" len="med"/>
                      <a:tailEnd type="none" w="med" len="med"/>
                    </a:lnL>
                    <a:lnR w="12700" cap="flat" cmpd="sng" algn="ctr">
                      <a:solidFill>
                        <a:srgbClr val="CDBFE6"/>
                      </a:solidFill>
                      <a:prstDash val="solid"/>
                      <a:round/>
                      <a:headEnd type="none" w="med" len="med"/>
                      <a:tailEnd type="none" w="med" len="med"/>
                    </a:lnR>
                    <a:lnT w="12700" cap="flat" cmpd="sng" algn="ctr">
                      <a:solidFill>
                        <a:srgbClr val="CDBFE6"/>
                      </a:solidFill>
                      <a:prstDash val="solid"/>
                      <a:round/>
                      <a:headEnd type="none" w="med" len="med"/>
                      <a:tailEnd type="none" w="med" len="med"/>
                    </a:lnT>
                    <a:lnB w="12700" cap="flat" cmpd="sng" algn="ctr">
                      <a:solidFill>
                        <a:srgbClr val="CDBFE6"/>
                      </a:solidFill>
                      <a:prstDash val="solid"/>
                      <a:round/>
                      <a:headEnd type="none" w="med" len="med"/>
                      <a:tailEnd type="none" w="med" len="med"/>
                    </a:lnB>
                    <a:solidFill>
                      <a:srgbClr val="FFFFFF"/>
                    </a:solidFill>
                  </a:tcPr>
                </a:tc>
              </a:tr>
              <a:tr h="685800">
                <a:tc>
                  <a:txBody>
                    <a:bodyPr/>
                    <a:lstStyle/>
                    <a:p>
                      <a:pPr indent="0" marL="0">
                        <a:buNone/>
                      </a:pPr>
                      <a:r>
                        <a:rPr lang="en-US" sz="1300" b="1" dirty="0">
                          <a:solidFill>
                            <a:srgbClr val="2B1B3D"/>
                          </a:solidFill>
                        </a:rPr>
                        <a:t>Flash Memory</a:t>
                      </a:r>
                      <a:endParaRPr lang="en-US" sz="1300" dirty="0"/>
                    </a:p>
                  </a:txBody>
                  <a:tcPr marL="91440" marR="91440" marT="45720" marB="45720" anchor="ctr">
                    <a:lnL w="12700" cap="flat" cmpd="sng" algn="ctr">
                      <a:solidFill>
                        <a:srgbClr val="CDBFE6"/>
                      </a:solidFill>
                      <a:prstDash val="solid"/>
                      <a:round/>
                      <a:headEnd type="none" w="med" len="med"/>
                      <a:tailEnd type="none" w="med" len="med"/>
                    </a:lnL>
                    <a:lnR w="12700" cap="flat" cmpd="sng" algn="ctr">
                      <a:solidFill>
                        <a:srgbClr val="CDBFE6"/>
                      </a:solidFill>
                      <a:prstDash val="solid"/>
                      <a:round/>
                      <a:headEnd type="none" w="med" len="med"/>
                      <a:tailEnd type="none" w="med" len="med"/>
                    </a:lnR>
                    <a:lnT w="12700" cap="flat" cmpd="sng" algn="ctr">
                      <a:solidFill>
                        <a:srgbClr val="CDBFE6"/>
                      </a:solidFill>
                      <a:prstDash val="solid"/>
                      <a:round/>
                      <a:headEnd type="none" w="med" len="med"/>
                      <a:tailEnd type="none" w="med" len="med"/>
                    </a:lnT>
                    <a:lnB w="12700" cap="flat" cmpd="sng" algn="ctr">
                      <a:solidFill>
                        <a:srgbClr val="CDBFE6"/>
                      </a:solidFill>
                      <a:prstDash val="solid"/>
                      <a:round/>
                      <a:headEnd type="none" w="med" len="med"/>
                      <a:tailEnd type="none" w="med" len="med"/>
                    </a:lnB>
                    <a:solidFill>
                      <a:srgbClr val="F5EFFB"/>
                    </a:solidFill>
                  </a:tcPr>
                </a:tc>
                <a:tc>
                  <a:txBody>
                    <a:bodyPr/>
                    <a:lstStyle/>
                    <a:p>
                      <a:pPr indent="0" marL="0">
                        <a:buNone/>
                      </a:pPr>
                      <a:r>
                        <a:rPr lang="en-US" sz="1300" dirty="0">
                          <a:solidFill>
                            <a:srgbClr val="2B1B3D"/>
                          </a:solidFill>
                        </a:rPr>
                        <a:t>32 KB</a:t>
                      </a:r>
                      <a:endParaRPr lang="en-US" sz="1300" dirty="0"/>
                    </a:p>
                  </a:txBody>
                  <a:tcPr marL="91440" marR="91440" marT="45720" marB="45720" anchor="ctr">
                    <a:lnL w="12700" cap="flat" cmpd="sng" algn="ctr">
                      <a:solidFill>
                        <a:srgbClr val="CDBFE6"/>
                      </a:solidFill>
                      <a:prstDash val="solid"/>
                      <a:round/>
                      <a:headEnd type="none" w="med" len="med"/>
                      <a:tailEnd type="none" w="med" len="med"/>
                    </a:lnL>
                    <a:lnR w="12700" cap="flat" cmpd="sng" algn="ctr">
                      <a:solidFill>
                        <a:srgbClr val="CDBFE6"/>
                      </a:solidFill>
                      <a:prstDash val="solid"/>
                      <a:round/>
                      <a:headEnd type="none" w="med" len="med"/>
                      <a:tailEnd type="none" w="med" len="med"/>
                    </a:lnR>
                    <a:lnT w="12700" cap="flat" cmpd="sng" algn="ctr">
                      <a:solidFill>
                        <a:srgbClr val="CDBFE6"/>
                      </a:solidFill>
                      <a:prstDash val="solid"/>
                      <a:round/>
                      <a:headEnd type="none" w="med" len="med"/>
                      <a:tailEnd type="none" w="med" len="med"/>
                    </a:lnT>
                    <a:lnB w="12700" cap="flat" cmpd="sng" algn="ctr">
                      <a:solidFill>
                        <a:srgbClr val="CDBFE6"/>
                      </a:solidFill>
                      <a:prstDash val="solid"/>
                      <a:round/>
                      <a:headEnd type="none" w="med" len="med"/>
                      <a:tailEnd type="none" w="med" len="med"/>
                    </a:lnB>
                    <a:solidFill>
                      <a:srgbClr val="FFFFFF"/>
                    </a:solidFill>
                  </a:tcPr>
                </a:tc>
                <a:tc>
                  <a:txBody>
                    <a:bodyPr/>
                    <a:lstStyle/>
                    <a:p>
                      <a:pPr indent="0" marL="0">
                        <a:buNone/>
                      </a:pPr>
                      <a:r>
                        <a:rPr lang="en-US" sz="1300" dirty="0">
                          <a:solidFill>
                            <a:srgbClr val="2B1B3D"/>
                          </a:solidFill>
                        </a:rPr>
                        <a:t>Depends on module configuration</a:t>
                      </a:r>
                      <a:endParaRPr lang="en-US" sz="1300" dirty="0"/>
                    </a:p>
                  </a:txBody>
                  <a:tcPr marL="91440" marR="91440" marT="45720" marB="45720" anchor="ctr">
                    <a:lnL w="12700" cap="flat" cmpd="sng" algn="ctr">
                      <a:solidFill>
                        <a:srgbClr val="CDBFE6"/>
                      </a:solidFill>
                      <a:prstDash val="solid"/>
                      <a:round/>
                      <a:headEnd type="none" w="med" len="med"/>
                      <a:tailEnd type="none" w="med" len="med"/>
                    </a:lnL>
                    <a:lnR w="12700" cap="flat" cmpd="sng" algn="ctr">
                      <a:solidFill>
                        <a:srgbClr val="CDBFE6"/>
                      </a:solidFill>
                      <a:prstDash val="solid"/>
                      <a:round/>
                      <a:headEnd type="none" w="med" len="med"/>
                      <a:tailEnd type="none" w="med" len="med"/>
                    </a:lnR>
                    <a:lnT w="12700" cap="flat" cmpd="sng" algn="ctr">
                      <a:solidFill>
                        <a:srgbClr val="CDBFE6"/>
                      </a:solidFill>
                      <a:prstDash val="solid"/>
                      <a:round/>
                      <a:headEnd type="none" w="med" len="med"/>
                      <a:tailEnd type="none" w="med" len="med"/>
                    </a:lnT>
                    <a:lnB w="12700" cap="flat" cmpd="sng" algn="ctr">
                      <a:solidFill>
                        <a:srgbClr val="CDBFE6"/>
                      </a:solidFill>
                      <a:prstDash val="solid"/>
                      <a:round/>
                      <a:headEnd type="none" w="med" len="med"/>
                      <a:tailEnd type="none" w="med" len="med"/>
                    </a:lnB>
                    <a:solidFill>
                      <a:srgbClr val="FFFFFF"/>
                    </a:solidFill>
                  </a:tcPr>
                </a:tc>
                <a:tc>
                  <a:txBody>
                    <a:bodyPr/>
                    <a:lstStyle/>
                    <a:p>
                      <a:pPr indent="0" marL="0">
                        <a:buNone/>
                      </a:pPr>
                      <a:r>
                        <a:rPr lang="en-US" sz="1300" dirty="0">
                          <a:solidFill>
                            <a:srgbClr val="2B1B3D"/>
                          </a:solidFill>
                        </a:rPr>
                        <a:t>64 KB official specification</a:t>
                      </a:r>
                      <a:endParaRPr lang="en-US" sz="1300" dirty="0"/>
                    </a:p>
                  </a:txBody>
                  <a:tcPr marL="91440" marR="91440" marT="45720" marB="45720" anchor="ctr">
                    <a:lnL w="12700" cap="flat" cmpd="sng" algn="ctr">
                      <a:solidFill>
                        <a:srgbClr val="CDBFE6"/>
                      </a:solidFill>
                      <a:prstDash val="solid"/>
                      <a:round/>
                      <a:headEnd type="none" w="med" len="med"/>
                      <a:tailEnd type="none" w="med" len="med"/>
                    </a:lnL>
                    <a:lnR w="12700" cap="flat" cmpd="sng" algn="ctr">
                      <a:solidFill>
                        <a:srgbClr val="CDBFE6"/>
                      </a:solidFill>
                      <a:prstDash val="solid"/>
                      <a:round/>
                      <a:headEnd type="none" w="med" len="med"/>
                      <a:tailEnd type="none" w="med" len="med"/>
                    </a:lnR>
                    <a:lnT w="12700" cap="flat" cmpd="sng" algn="ctr">
                      <a:solidFill>
                        <a:srgbClr val="CDBFE6"/>
                      </a:solidFill>
                      <a:prstDash val="solid"/>
                      <a:round/>
                      <a:headEnd type="none" w="med" len="med"/>
                      <a:tailEnd type="none" w="med" len="med"/>
                    </a:lnT>
                    <a:lnB w="12700" cap="flat" cmpd="sng" algn="ctr">
                      <a:solidFill>
                        <a:srgbClr val="CDBFE6"/>
                      </a:solidFill>
                      <a:prstDash val="solid"/>
                      <a:round/>
                      <a:headEnd type="none" w="med" len="med"/>
                      <a:tailEnd type="none" w="med" len="med"/>
                    </a:lnB>
                    <a:solidFill>
                      <a:srgbClr val="FFFFFF"/>
                    </a:solidFill>
                  </a:tcPr>
                </a:tc>
                <a:tc>
                  <a:txBody>
                    <a:bodyPr/>
                    <a:lstStyle/>
                    <a:p>
                      <a:pPr indent="0" marL="0">
                        <a:buNone/>
                      </a:pPr>
                      <a:r>
                        <a:rPr lang="en-US" sz="1300" dirty="0">
                          <a:solidFill>
                            <a:srgbClr val="2B1B3D"/>
                          </a:solidFill>
                        </a:rPr>
                        <a:t>2 MB on standard board</a:t>
                      </a:r>
                      <a:endParaRPr lang="en-US" sz="1300" dirty="0"/>
                    </a:p>
                  </a:txBody>
                  <a:tcPr marL="91440" marR="91440" marT="45720" marB="45720" anchor="ctr">
                    <a:lnL w="12700" cap="flat" cmpd="sng" algn="ctr">
                      <a:solidFill>
                        <a:srgbClr val="CDBFE6"/>
                      </a:solidFill>
                      <a:prstDash val="solid"/>
                      <a:round/>
                      <a:headEnd type="none" w="med" len="med"/>
                      <a:tailEnd type="none" w="med" len="med"/>
                    </a:lnL>
                    <a:lnR w="12700" cap="flat" cmpd="sng" algn="ctr">
                      <a:solidFill>
                        <a:srgbClr val="CDBFE6"/>
                      </a:solidFill>
                      <a:prstDash val="solid"/>
                      <a:round/>
                      <a:headEnd type="none" w="med" len="med"/>
                      <a:tailEnd type="none" w="med" len="med"/>
                    </a:lnR>
                    <a:lnT w="12700" cap="flat" cmpd="sng" algn="ctr">
                      <a:solidFill>
                        <a:srgbClr val="CDBFE6"/>
                      </a:solidFill>
                      <a:prstDash val="solid"/>
                      <a:round/>
                      <a:headEnd type="none" w="med" len="med"/>
                      <a:tailEnd type="none" w="med" len="med"/>
                    </a:lnT>
                    <a:lnB w="12700" cap="flat" cmpd="sng" algn="ctr">
                      <a:solidFill>
                        <a:srgbClr val="CDBFE6"/>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2B1B3D"/>
                          </a:solidFill>
                        </a:rPr>
                        <a:t>SRAM</a:t>
                      </a:r>
                      <a:endParaRPr lang="en-US" sz="1300" dirty="0"/>
                    </a:p>
                  </a:txBody>
                  <a:tcPr marL="91440" marR="91440" marT="45720" marB="45720" anchor="ctr">
                    <a:lnL w="12700" cap="flat" cmpd="sng" algn="ctr">
                      <a:solidFill>
                        <a:srgbClr val="CDBFE6"/>
                      </a:solidFill>
                      <a:prstDash val="solid"/>
                      <a:round/>
                      <a:headEnd type="none" w="med" len="med"/>
                      <a:tailEnd type="none" w="med" len="med"/>
                    </a:lnL>
                    <a:lnR w="12700" cap="flat" cmpd="sng" algn="ctr">
                      <a:solidFill>
                        <a:srgbClr val="CDBFE6"/>
                      </a:solidFill>
                      <a:prstDash val="solid"/>
                      <a:round/>
                      <a:headEnd type="none" w="med" len="med"/>
                      <a:tailEnd type="none" w="med" len="med"/>
                    </a:lnR>
                    <a:lnT w="12700" cap="flat" cmpd="sng" algn="ctr">
                      <a:solidFill>
                        <a:srgbClr val="CDBFE6"/>
                      </a:solidFill>
                      <a:prstDash val="solid"/>
                      <a:round/>
                      <a:headEnd type="none" w="med" len="med"/>
                      <a:tailEnd type="none" w="med" len="med"/>
                    </a:lnT>
                    <a:lnB w="12700" cap="flat" cmpd="sng" algn="ctr">
                      <a:solidFill>
                        <a:srgbClr val="CDBFE6"/>
                      </a:solidFill>
                      <a:prstDash val="solid"/>
                      <a:round/>
                      <a:headEnd type="none" w="med" len="med"/>
                      <a:tailEnd type="none" w="med" len="med"/>
                    </a:lnB>
                    <a:solidFill>
                      <a:srgbClr val="F5EFFB"/>
                    </a:solidFill>
                  </a:tcPr>
                </a:tc>
                <a:tc>
                  <a:txBody>
                    <a:bodyPr/>
                    <a:lstStyle/>
                    <a:p>
                      <a:pPr indent="0" marL="0">
                        <a:buNone/>
                      </a:pPr>
                      <a:r>
                        <a:rPr lang="en-US" sz="1300" dirty="0">
                          <a:solidFill>
                            <a:srgbClr val="2B1B3D"/>
                          </a:solidFill>
                        </a:rPr>
                        <a:t>2 KB</a:t>
                      </a:r>
                      <a:endParaRPr lang="en-US" sz="1300" dirty="0"/>
                    </a:p>
                  </a:txBody>
                  <a:tcPr marL="91440" marR="91440" marT="45720" marB="45720" anchor="ctr">
                    <a:lnL w="12700" cap="flat" cmpd="sng" algn="ctr">
                      <a:solidFill>
                        <a:srgbClr val="CDBFE6"/>
                      </a:solidFill>
                      <a:prstDash val="solid"/>
                      <a:round/>
                      <a:headEnd type="none" w="med" len="med"/>
                      <a:tailEnd type="none" w="med" len="med"/>
                    </a:lnL>
                    <a:lnR w="12700" cap="flat" cmpd="sng" algn="ctr">
                      <a:solidFill>
                        <a:srgbClr val="CDBFE6"/>
                      </a:solidFill>
                      <a:prstDash val="solid"/>
                      <a:round/>
                      <a:headEnd type="none" w="med" len="med"/>
                      <a:tailEnd type="none" w="med" len="med"/>
                    </a:lnR>
                    <a:lnT w="12700" cap="flat" cmpd="sng" algn="ctr">
                      <a:solidFill>
                        <a:srgbClr val="CDBFE6"/>
                      </a:solidFill>
                      <a:prstDash val="solid"/>
                      <a:round/>
                      <a:headEnd type="none" w="med" len="med"/>
                      <a:tailEnd type="none" w="med" len="med"/>
                    </a:lnT>
                    <a:lnB w="12700" cap="flat" cmpd="sng" algn="ctr">
                      <a:solidFill>
                        <a:srgbClr val="CDBFE6"/>
                      </a:solidFill>
                      <a:prstDash val="solid"/>
                      <a:round/>
                      <a:headEnd type="none" w="med" len="med"/>
                      <a:tailEnd type="none" w="med" len="med"/>
                    </a:lnB>
                    <a:solidFill>
                      <a:srgbClr val="FFFFFF"/>
                    </a:solidFill>
                  </a:tcPr>
                </a:tc>
                <a:tc>
                  <a:txBody>
                    <a:bodyPr/>
                    <a:lstStyle/>
                    <a:p>
                      <a:pPr indent="0" marL="0">
                        <a:buNone/>
                      </a:pPr>
                      <a:r>
                        <a:rPr lang="en-US" sz="1300" dirty="0">
                          <a:solidFill>
                            <a:srgbClr val="2B1B3D"/>
                          </a:solidFill>
                        </a:rPr>
                        <a:t>520 KB on-chip</a:t>
                      </a:r>
                      <a:endParaRPr lang="en-US" sz="1300" dirty="0"/>
                    </a:p>
                  </a:txBody>
                  <a:tcPr marL="91440" marR="91440" marT="45720" marB="45720" anchor="ctr">
                    <a:lnL w="12700" cap="flat" cmpd="sng" algn="ctr">
                      <a:solidFill>
                        <a:srgbClr val="CDBFE6"/>
                      </a:solidFill>
                      <a:prstDash val="solid"/>
                      <a:round/>
                      <a:headEnd type="none" w="med" len="med"/>
                      <a:tailEnd type="none" w="med" len="med"/>
                    </a:lnL>
                    <a:lnR w="12700" cap="flat" cmpd="sng" algn="ctr">
                      <a:solidFill>
                        <a:srgbClr val="CDBFE6"/>
                      </a:solidFill>
                      <a:prstDash val="solid"/>
                      <a:round/>
                      <a:headEnd type="none" w="med" len="med"/>
                      <a:tailEnd type="none" w="med" len="med"/>
                    </a:lnR>
                    <a:lnT w="12700" cap="flat" cmpd="sng" algn="ctr">
                      <a:solidFill>
                        <a:srgbClr val="CDBFE6"/>
                      </a:solidFill>
                      <a:prstDash val="solid"/>
                      <a:round/>
                      <a:headEnd type="none" w="med" len="med"/>
                      <a:tailEnd type="none" w="med" len="med"/>
                    </a:lnT>
                    <a:lnB w="12700" cap="flat" cmpd="sng" algn="ctr">
                      <a:solidFill>
                        <a:srgbClr val="CDBFE6"/>
                      </a:solidFill>
                      <a:prstDash val="solid"/>
                      <a:round/>
                      <a:headEnd type="none" w="med" len="med"/>
                      <a:tailEnd type="none" w="med" len="med"/>
                    </a:lnB>
                    <a:solidFill>
                      <a:srgbClr val="FFFFFF"/>
                    </a:solidFill>
                  </a:tcPr>
                </a:tc>
                <a:tc>
                  <a:txBody>
                    <a:bodyPr/>
                    <a:lstStyle/>
                    <a:p>
                      <a:pPr indent="0" marL="0">
                        <a:buNone/>
                      </a:pPr>
                      <a:r>
                        <a:rPr lang="en-US" sz="1300" dirty="0">
                          <a:solidFill>
                            <a:srgbClr val="2B1B3D"/>
                          </a:solidFill>
                        </a:rPr>
                        <a:t>20 KB</a:t>
                      </a:r>
                      <a:endParaRPr lang="en-US" sz="1300" dirty="0"/>
                    </a:p>
                  </a:txBody>
                  <a:tcPr marL="91440" marR="91440" marT="45720" marB="45720" anchor="ctr">
                    <a:lnL w="12700" cap="flat" cmpd="sng" algn="ctr">
                      <a:solidFill>
                        <a:srgbClr val="CDBFE6"/>
                      </a:solidFill>
                      <a:prstDash val="solid"/>
                      <a:round/>
                      <a:headEnd type="none" w="med" len="med"/>
                      <a:tailEnd type="none" w="med" len="med"/>
                    </a:lnL>
                    <a:lnR w="12700" cap="flat" cmpd="sng" algn="ctr">
                      <a:solidFill>
                        <a:srgbClr val="CDBFE6"/>
                      </a:solidFill>
                      <a:prstDash val="solid"/>
                      <a:round/>
                      <a:headEnd type="none" w="med" len="med"/>
                      <a:tailEnd type="none" w="med" len="med"/>
                    </a:lnR>
                    <a:lnT w="12700" cap="flat" cmpd="sng" algn="ctr">
                      <a:solidFill>
                        <a:srgbClr val="CDBFE6"/>
                      </a:solidFill>
                      <a:prstDash val="solid"/>
                      <a:round/>
                      <a:headEnd type="none" w="med" len="med"/>
                      <a:tailEnd type="none" w="med" len="med"/>
                    </a:lnT>
                    <a:lnB w="12700" cap="flat" cmpd="sng" algn="ctr">
                      <a:solidFill>
                        <a:srgbClr val="CDBFE6"/>
                      </a:solidFill>
                      <a:prstDash val="solid"/>
                      <a:round/>
                      <a:headEnd type="none" w="med" len="med"/>
                      <a:tailEnd type="none" w="med" len="med"/>
                    </a:lnB>
                    <a:solidFill>
                      <a:srgbClr val="FFFFFF"/>
                    </a:solidFill>
                  </a:tcPr>
                </a:tc>
                <a:tc>
                  <a:txBody>
                    <a:bodyPr/>
                    <a:lstStyle/>
                    <a:p>
                      <a:pPr indent="0" marL="0">
                        <a:buNone/>
                      </a:pPr>
                      <a:r>
                        <a:rPr lang="en-US" sz="1300" dirty="0">
                          <a:solidFill>
                            <a:srgbClr val="2B1B3D"/>
                          </a:solidFill>
                        </a:rPr>
                        <a:t>264 KB</a:t>
                      </a:r>
                      <a:endParaRPr lang="en-US" sz="1300" dirty="0"/>
                    </a:p>
                  </a:txBody>
                  <a:tcPr marL="91440" marR="91440" marT="45720" marB="45720" anchor="ctr">
                    <a:lnL w="12700" cap="flat" cmpd="sng" algn="ctr">
                      <a:solidFill>
                        <a:srgbClr val="CDBFE6"/>
                      </a:solidFill>
                      <a:prstDash val="solid"/>
                      <a:round/>
                      <a:headEnd type="none" w="med" len="med"/>
                      <a:tailEnd type="none" w="med" len="med"/>
                    </a:lnL>
                    <a:lnR w="12700" cap="flat" cmpd="sng" algn="ctr">
                      <a:solidFill>
                        <a:srgbClr val="CDBFE6"/>
                      </a:solidFill>
                      <a:prstDash val="solid"/>
                      <a:round/>
                      <a:headEnd type="none" w="med" len="med"/>
                      <a:tailEnd type="none" w="med" len="med"/>
                    </a:lnR>
                    <a:lnT w="12700" cap="flat" cmpd="sng" algn="ctr">
                      <a:solidFill>
                        <a:srgbClr val="CDBFE6"/>
                      </a:solidFill>
                      <a:prstDash val="solid"/>
                      <a:round/>
                      <a:headEnd type="none" w="med" len="med"/>
                      <a:tailEnd type="none" w="med" len="med"/>
                    </a:lnT>
                    <a:lnB w="12700" cap="flat" cmpd="sng" algn="ctr">
                      <a:solidFill>
                        <a:srgbClr val="CDBFE6"/>
                      </a:solidFill>
                      <a:prstDash val="solid"/>
                      <a:round/>
                      <a:headEnd type="none" w="med" len="med"/>
                      <a:tailEnd type="none" w="med" len="med"/>
                    </a:lnB>
                    <a:solidFill>
                      <a:srgbClr val="FFFFFF"/>
                    </a:solidFill>
                  </a:tcPr>
                </a:tc>
              </a:tr>
              <a:tr h="685800">
                <a:tc>
                  <a:txBody>
                    <a:bodyPr/>
                    <a:lstStyle/>
                    <a:p>
                      <a:pPr indent="0" marL="0">
                        <a:buNone/>
                      </a:pPr>
                      <a:r>
                        <a:rPr lang="en-US" sz="1300" b="1" dirty="0">
                          <a:solidFill>
                            <a:srgbClr val="2B1B3D"/>
                          </a:solidFill>
                        </a:rPr>
                        <a:t>Wireless Connectivity</a:t>
                      </a:r>
                      <a:endParaRPr lang="en-US" sz="1300" dirty="0"/>
                    </a:p>
                  </a:txBody>
                  <a:tcPr marL="91440" marR="91440" marT="45720" marB="45720" anchor="ctr">
                    <a:lnL w="12700" cap="flat" cmpd="sng" algn="ctr">
                      <a:solidFill>
                        <a:srgbClr val="CDBFE6"/>
                      </a:solidFill>
                      <a:prstDash val="solid"/>
                      <a:round/>
                      <a:headEnd type="none" w="med" len="med"/>
                      <a:tailEnd type="none" w="med" len="med"/>
                    </a:lnL>
                    <a:lnR w="12700" cap="flat" cmpd="sng" algn="ctr">
                      <a:solidFill>
                        <a:srgbClr val="CDBFE6"/>
                      </a:solidFill>
                      <a:prstDash val="solid"/>
                      <a:round/>
                      <a:headEnd type="none" w="med" len="med"/>
                      <a:tailEnd type="none" w="med" len="med"/>
                    </a:lnR>
                    <a:lnT w="12700" cap="flat" cmpd="sng" algn="ctr">
                      <a:solidFill>
                        <a:srgbClr val="CDBFE6"/>
                      </a:solidFill>
                      <a:prstDash val="solid"/>
                      <a:round/>
                      <a:headEnd type="none" w="med" len="med"/>
                      <a:tailEnd type="none" w="med" len="med"/>
                    </a:lnT>
                    <a:lnB w="12700" cap="flat" cmpd="sng" algn="ctr">
                      <a:solidFill>
                        <a:srgbClr val="CDBFE6"/>
                      </a:solidFill>
                      <a:prstDash val="solid"/>
                      <a:round/>
                      <a:headEnd type="none" w="med" len="med"/>
                      <a:tailEnd type="none" w="med" len="med"/>
                    </a:lnB>
                    <a:solidFill>
                      <a:srgbClr val="F5EFFB"/>
                    </a:solidFill>
                  </a:tcPr>
                </a:tc>
                <a:tc>
                  <a:txBody>
                    <a:bodyPr/>
                    <a:lstStyle/>
                    <a:p>
                      <a:pPr indent="0" marL="0">
                        <a:buNone/>
                      </a:pPr>
                      <a:r>
                        <a:rPr lang="en-US" sz="1300" dirty="0">
                          <a:solidFill>
                            <a:srgbClr val="2B1B3D"/>
                          </a:solidFill>
                        </a:rPr>
                        <a:t>No built-in Wi-Fi/Bluetooth</a:t>
                      </a:r>
                      <a:endParaRPr lang="en-US" sz="1300" dirty="0"/>
                    </a:p>
                  </a:txBody>
                  <a:tcPr marL="91440" marR="91440" marT="45720" marB="45720" anchor="ctr">
                    <a:lnL w="12700" cap="flat" cmpd="sng" algn="ctr">
                      <a:solidFill>
                        <a:srgbClr val="CDBFE6"/>
                      </a:solidFill>
                      <a:prstDash val="solid"/>
                      <a:round/>
                      <a:headEnd type="none" w="med" len="med"/>
                      <a:tailEnd type="none" w="med" len="med"/>
                    </a:lnL>
                    <a:lnR w="12700" cap="flat" cmpd="sng" algn="ctr">
                      <a:solidFill>
                        <a:srgbClr val="CDBFE6"/>
                      </a:solidFill>
                      <a:prstDash val="solid"/>
                      <a:round/>
                      <a:headEnd type="none" w="med" len="med"/>
                      <a:tailEnd type="none" w="med" len="med"/>
                    </a:lnR>
                    <a:lnT w="12700" cap="flat" cmpd="sng" algn="ctr">
                      <a:solidFill>
                        <a:srgbClr val="CDBFE6"/>
                      </a:solidFill>
                      <a:prstDash val="solid"/>
                      <a:round/>
                      <a:headEnd type="none" w="med" len="med"/>
                      <a:tailEnd type="none" w="med" len="med"/>
                    </a:lnT>
                    <a:lnB w="12700" cap="flat" cmpd="sng" algn="ctr">
                      <a:solidFill>
                        <a:srgbClr val="CDBFE6"/>
                      </a:solidFill>
                      <a:prstDash val="solid"/>
                      <a:round/>
                      <a:headEnd type="none" w="med" len="med"/>
                      <a:tailEnd type="none" w="med" len="med"/>
                    </a:lnB>
                    <a:solidFill>
                      <a:srgbClr val="FFFFFF"/>
                    </a:solidFill>
                  </a:tcPr>
                </a:tc>
                <a:tc>
                  <a:txBody>
                    <a:bodyPr/>
                    <a:lstStyle/>
                    <a:p>
                      <a:pPr indent="0" marL="0">
                        <a:buNone/>
                      </a:pPr>
                      <a:r>
                        <a:rPr lang="en-US" sz="1300" dirty="0">
                          <a:solidFill>
                            <a:srgbClr val="2B1B3D"/>
                          </a:solidFill>
                        </a:rPr>
                        <a:t>Wi-Fi and Bluetooth</a:t>
                      </a:r>
                      <a:endParaRPr lang="en-US" sz="1300" dirty="0"/>
                    </a:p>
                  </a:txBody>
                  <a:tcPr marL="91440" marR="91440" marT="45720" marB="45720" anchor="ctr">
                    <a:lnL w="12700" cap="flat" cmpd="sng" algn="ctr">
                      <a:solidFill>
                        <a:srgbClr val="CDBFE6"/>
                      </a:solidFill>
                      <a:prstDash val="solid"/>
                      <a:round/>
                      <a:headEnd type="none" w="med" len="med"/>
                      <a:tailEnd type="none" w="med" len="med"/>
                    </a:lnL>
                    <a:lnR w="12700" cap="flat" cmpd="sng" algn="ctr">
                      <a:solidFill>
                        <a:srgbClr val="CDBFE6"/>
                      </a:solidFill>
                      <a:prstDash val="solid"/>
                      <a:round/>
                      <a:headEnd type="none" w="med" len="med"/>
                      <a:tailEnd type="none" w="med" len="med"/>
                    </a:lnR>
                    <a:lnT w="12700" cap="flat" cmpd="sng" algn="ctr">
                      <a:solidFill>
                        <a:srgbClr val="CDBFE6"/>
                      </a:solidFill>
                      <a:prstDash val="solid"/>
                      <a:round/>
                      <a:headEnd type="none" w="med" len="med"/>
                      <a:tailEnd type="none" w="med" len="med"/>
                    </a:lnT>
                    <a:lnB w="12700" cap="flat" cmpd="sng" algn="ctr">
                      <a:solidFill>
                        <a:srgbClr val="CDBFE6"/>
                      </a:solidFill>
                      <a:prstDash val="solid"/>
                      <a:round/>
                      <a:headEnd type="none" w="med" len="med"/>
                      <a:tailEnd type="none" w="med" len="med"/>
                    </a:lnB>
                    <a:solidFill>
                      <a:srgbClr val="FFFFFF"/>
                    </a:solidFill>
                  </a:tcPr>
                </a:tc>
                <a:tc>
                  <a:txBody>
                    <a:bodyPr/>
                    <a:lstStyle/>
                    <a:p>
                      <a:pPr indent="0" marL="0">
                        <a:buNone/>
                      </a:pPr>
                      <a:r>
                        <a:rPr lang="en-US" sz="1300" dirty="0">
                          <a:solidFill>
                            <a:srgbClr val="2B1B3D"/>
                          </a:solidFill>
                        </a:rPr>
                        <a:t>No built-in Wi-Fi/Bluetooth</a:t>
                      </a:r>
                      <a:endParaRPr lang="en-US" sz="1300" dirty="0"/>
                    </a:p>
                  </a:txBody>
                  <a:tcPr marL="91440" marR="91440" marT="45720" marB="45720" anchor="ctr">
                    <a:lnL w="12700" cap="flat" cmpd="sng" algn="ctr">
                      <a:solidFill>
                        <a:srgbClr val="CDBFE6"/>
                      </a:solidFill>
                      <a:prstDash val="solid"/>
                      <a:round/>
                      <a:headEnd type="none" w="med" len="med"/>
                      <a:tailEnd type="none" w="med" len="med"/>
                    </a:lnL>
                    <a:lnR w="12700" cap="flat" cmpd="sng" algn="ctr">
                      <a:solidFill>
                        <a:srgbClr val="CDBFE6"/>
                      </a:solidFill>
                      <a:prstDash val="solid"/>
                      <a:round/>
                      <a:headEnd type="none" w="med" len="med"/>
                      <a:tailEnd type="none" w="med" len="med"/>
                    </a:lnR>
                    <a:lnT w="12700" cap="flat" cmpd="sng" algn="ctr">
                      <a:solidFill>
                        <a:srgbClr val="CDBFE6"/>
                      </a:solidFill>
                      <a:prstDash val="solid"/>
                      <a:round/>
                      <a:headEnd type="none" w="med" len="med"/>
                      <a:tailEnd type="none" w="med" len="med"/>
                    </a:lnT>
                    <a:lnB w="12700" cap="flat" cmpd="sng" algn="ctr">
                      <a:solidFill>
                        <a:srgbClr val="CDBFE6"/>
                      </a:solidFill>
                      <a:prstDash val="solid"/>
                      <a:round/>
                      <a:headEnd type="none" w="med" len="med"/>
                      <a:tailEnd type="none" w="med" len="med"/>
                    </a:lnB>
                    <a:solidFill>
                      <a:srgbClr val="FFFFFF"/>
                    </a:solidFill>
                  </a:tcPr>
                </a:tc>
                <a:tc>
                  <a:txBody>
                    <a:bodyPr/>
                    <a:lstStyle/>
                    <a:p>
                      <a:pPr indent="0" marL="0">
                        <a:buNone/>
                      </a:pPr>
                      <a:r>
                        <a:rPr lang="en-US" sz="1300" dirty="0">
                          <a:solidFill>
                            <a:srgbClr val="2B1B3D"/>
                          </a:solidFill>
                        </a:rPr>
                        <a:t>No built-in Wi-Fi/Bluetooth</a:t>
                      </a:r>
                      <a:endParaRPr lang="en-US" sz="1300" dirty="0"/>
                    </a:p>
                  </a:txBody>
                  <a:tcPr marL="91440" marR="91440" marT="45720" marB="45720" anchor="ctr">
                    <a:lnL w="12700" cap="flat" cmpd="sng" algn="ctr">
                      <a:solidFill>
                        <a:srgbClr val="CDBFE6"/>
                      </a:solidFill>
                      <a:prstDash val="solid"/>
                      <a:round/>
                      <a:headEnd type="none" w="med" len="med"/>
                      <a:tailEnd type="none" w="med" len="med"/>
                    </a:lnL>
                    <a:lnR w="12700" cap="flat" cmpd="sng" algn="ctr">
                      <a:solidFill>
                        <a:srgbClr val="CDBFE6"/>
                      </a:solidFill>
                      <a:prstDash val="solid"/>
                      <a:round/>
                      <a:headEnd type="none" w="med" len="med"/>
                      <a:tailEnd type="none" w="med" len="med"/>
                    </a:lnR>
                    <a:lnT w="12700" cap="flat" cmpd="sng" algn="ctr">
                      <a:solidFill>
                        <a:srgbClr val="CDBFE6"/>
                      </a:solidFill>
                      <a:prstDash val="solid"/>
                      <a:round/>
                      <a:headEnd type="none" w="med" len="med"/>
                      <a:tailEnd type="none" w="med" len="med"/>
                    </a:lnT>
                    <a:lnB w="12700" cap="flat" cmpd="sng" algn="ctr">
                      <a:solidFill>
                        <a:srgbClr val="CDBF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32104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Recommendations</a:t>
            </a:r>
            <a:endParaRPr lang="en-US" sz="3600" dirty="0"/>
          </a:p>
        </p:txBody>
      </p:sp>
      <p:sp>
        <p:nvSpPr>
          <p:cNvPr id="3" name="Card"/>
          <p:cNvSpPr/>
          <p:nvPr/>
        </p:nvSpPr>
        <p:spPr>
          <a:xfrm>
            <a:off x="548640" y="1234440"/>
            <a:ext cx="3931920" cy="1600200"/>
          </a:xfrm>
          <a:prstGeom prst="roundRect">
            <a:avLst>
              <a:gd name="adj" fmla="val 6857"/>
            </a:avLst>
          </a:prstGeom>
          <a:solidFill>
            <a:schemeClr val="bg2"/>
          </a:solidFill>
          <a:ln w="12700">
            <a:solidFill>
              <a:schemeClr val="bg2"/>
            </a:solidFill>
            <a:prstDash val="solid"/>
          </a:ln>
        </p:spPr>
      </p:sp>
      <p:sp>
        <p:nvSpPr>
          <p:cNvPr id="4" name="Icon circle"/>
          <p:cNvSpPr/>
          <p:nvPr/>
        </p:nvSpPr>
        <p:spPr>
          <a:xfrm>
            <a:off x="731520" y="1417320"/>
            <a:ext cx="594360" cy="594360"/>
          </a:xfrm>
          <a:prstGeom prst="ellipse">
            <a:avLst/>
          </a:prstGeom>
          <a:solidFill>
            <a:schemeClr val="accent2"/>
          </a:solidFill>
          <a:ln w="12700">
            <a:solidFill>
              <a:schemeClr val="accent2"/>
            </a:solidFill>
            <a:prstDash val="solid"/>
          </a:ln>
        </p:spPr>
      </p:sp>
      <p:pic>
        <p:nvPicPr>
          <p:cNvPr id="5" name="Image 0" descr="icon">    </p:cNvPr>
          <p:cNvPicPr>
            <a:picLocks noChangeAspect="1"/>
          </p:cNvPicPr>
          <p:nvPr/>
        </p:nvPicPr>
        <p:blipFill>
          <a:blip r:embed="rId1"/>
          <a:stretch>
            <a:fillRect/>
          </a:stretch>
        </p:blipFill>
        <p:spPr>
          <a:xfrm>
            <a:off x="880110" y="1565910"/>
            <a:ext cx="297180" cy="297180"/>
          </a:xfrm>
          <a:prstGeom prst="rect">
            <a:avLst/>
          </a:prstGeom>
        </p:spPr>
      </p:pic>
      <p:sp>
        <p:nvSpPr>
          <p:cNvPr id="6" name="Text 3"/>
          <p:cNvSpPr txBox="1"/>
          <p:nvPr/>
        </p:nvSpPr>
        <p:spPr>
          <a:xfrm>
            <a:off x="1508760" y="1344168"/>
            <a:ext cx="2834640" cy="320040"/>
          </a:xfrm>
          <a:prstGeom prst="rect">
            <a:avLst/>
          </a:prstGeom>
          <a:noFill/>
          <a:ln/>
        </p:spPr>
        <p:txBody>
          <a:bodyPr wrap="square" lIns="0" tIns="0" rIns="0" bIns="0" rtlCol="0" anchor="ctr"/>
          <a:lstStyle/>
          <a:p>
            <a:pPr indent="0" marL="0">
              <a:buNone/>
            </a:pPr>
            <a:r>
              <a:rPr lang="en-US" sz="1600" b="1" dirty="0">
                <a:solidFill>
                  <a:schemeClr val="tx1"/>
                </a:solidFill>
              </a:rPr>
              <a:t>AI / Lightweight Edge AI</a:t>
            </a:r>
            <a:endParaRPr lang="en-US" sz="1600" dirty="0"/>
          </a:p>
        </p:txBody>
      </p:sp>
      <p:sp>
        <p:nvSpPr>
          <p:cNvPr id="7" name="Text 4"/>
          <p:cNvSpPr txBox="1"/>
          <p:nvPr/>
        </p:nvSpPr>
        <p:spPr>
          <a:xfrm>
            <a:off x="1508760" y="1691640"/>
            <a:ext cx="2834640" cy="274320"/>
          </a:xfrm>
          <a:prstGeom prst="rect">
            <a:avLst/>
          </a:prstGeom>
          <a:noFill/>
          <a:ln/>
        </p:spPr>
        <p:txBody>
          <a:bodyPr wrap="square" lIns="0" tIns="0" rIns="0" bIns="0" rtlCol="0" anchor="ctr"/>
          <a:lstStyle/>
          <a:p>
            <a:pPr indent="0" marL="0">
              <a:buNone/>
            </a:pPr>
            <a:r>
              <a:rPr lang="en-US" sz="1400" b="1" dirty="0">
                <a:solidFill>
                  <a:schemeClr val="accent2"/>
                </a:solidFill>
              </a:rPr>
              <a:t>Recommended: ESP32-DevKitC</a:t>
            </a:r>
            <a:endParaRPr lang="en-US" sz="1400" dirty="0"/>
          </a:p>
        </p:txBody>
      </p:sp>
      <p:sp>
        <p:nvSpPr>
          <p:cNvPr id="8" name="Text 5"/>
          <p:cNvSpPr txBox="1"/>
          <p:nvPr/>
        </p:nvSpPr>
        <p:spPr>
          <a:xfrm>
            <a:off x="1508760" y="1984248"/>
            <a:ext cx="2834640" cy="804672"/>
          </a:xfrm>
          <a:prstGeom prst="rect">
            <a:avLst/>
          </a:prstGeom>
          <a:noFill/>
          <a:ln/>
        </p:spPr>
        <p:txBody>
          <a:bodyPr wrap="square" lIns="0" tIns="0" rIns="0" bIns="0" rtlCol="0" anchor="t"/>
          <a:lstStyle/>
          <a:p>
            <a:pPr indent="0" marL="0">
              <a:buNone/>
            </a:pPr>
            <a:r>
              <a:rPr lang="en-US" sz="1300" dirty="0">
                <a:solidFill>
                  <a:schemeClr val="tx1"/>
                </a:solidFill>
              </a:rPr>
              <a:t>High processing capability and integrated wireless connectivity make it a useful candidate for selected lightweight edge applications.</a:t>
            </a:r>
            <a:endParaRPr lang="en-US" sz="1300" dirty="0"/>
          </a:p>
        </p:txBody>
      </p:sp>
      <p:sp>
        <p:nvSpPr>
          <p:cNvPr id="9" name="Card"/>
          <p:cNvSpPr/>
          <p:nvPr/>
        </p:nvSpPr>
        <p:spPr>
          <a:xfrm>
            <a:off x="4663440" y="1234440"/>
            <a:ext cx="3931920" cy="1600200"/>
          </a:xfrm>
          <a:prstGeom prst="roundRect">
            <a:avLst>
              <a:gd name="adj" fmla="val 6857"/>
            </a:avLst>
          </a:prstGeom>
          <a:solidFill>
            <a:schemeClr val="bg2"/>
          </a:solidFill>
          <a:ln w="12700">
            <a:solidFill>
              <a:schemeClr val="bg2"/>
            </a:solidFill>
            <a:prstDash val="solid"/>
          </a:ln>
        </p:spPr>
      </p:sp>
      <p:sp>
        <p:nvSpPr>
          <p:cNvPr id="10" name="Icon circle"/>
          <p:cNvSpPr/>
          <p:nvPr/>
        </p:nvSpPr>
        <p:spPr>
          <a:xfrm>
            <a:off x="4846320" y="1417320"/>
            <a:ext cx="594360" cy="594360"/>
          </a:xfrm>
          <a:prstGeom prst="ellipse">
            <a:avLst/>
          </a:prstGeom>
          <a:solidFill>
            <a:schemeClr val="accent2"/>
          </a:solidFill>
          <a:ln w="12700">
            <a:solidFill>
              <a:schemeClr val="accent2"/>
            </a:solidFill>
            <a:prstDash val="solid"/>
          </a:ln>
        </p:spPr>
      </p:sp>
      <p:pic>
        <p:nvPicPr>
          <p:cNvPr id="11" name="Image 1" descr="icon">    </p:cNvPr>
          <p:cNvPicPr>
            <a:picLocks noChangeAspect="1"/>
          </p:cNvPicPr>
          <p:nvPr/>
        </p:nvPicPr>
        <p:blipFill>
          <a:blip r:embed="rId2"/>
          <a:stretch>
            <a:fillRect/>
          </a:stretch>
        </p:blipFill>
        <p:spPr>
          <a:xfrm>
            <a:off x="4994910" y="1565910"/>
            <a:ext cx="297180" cy="297180"/>
          </a:xfrm>
          <a:prstGeom prst="rect">
            <a:avLst/>
          </a:prstGeom>
        </p:spPr>
      </p:pic>
      <p:sp>
        <p:nvSpPr>
          <p:cNvPr id="12" name="Text 8"/>
          <p:cNvSpPr txBox="1"/>
          <p:nvPr/>
        </p:nvSpPr>
        <p:spPr>
          <a:xfrm>
            <a:off x="5623560" y="1344168"/>
            <a:ext cx="2834640" cy="320040"/>
          </a:xfrm>
          <a:prstGeom prst="rect">
            <a:avLst/>
          </a:prstGeom>
          <a:noFill/>
          <a:ln/>
        </p:spPr>
        <p:txBody>
          <a:bodyPr wrap="square" lIns="0" tIns="0" rIns="0" bIns="0" rtlCol="0" anchor="ctr"/>
          <a:lstStyle/>
          <a:p>
            <a:pPr indent="0" marL="0">
              <a:buNone/>
            </a:pPr>
            <a:r>
              <a:rPr lang="en-US" sz="1600" b="1" dirty="0">
                <a:solidFill>
                  <a:schemeClr val="tx1"/>
                </a:solidFill>
              </a:rPr>
              <a:t>IoT / Smart Home</a:t>
            </a:r>
            <a:endParaRPr lang="en-US" sz="1600" dirty="0"/>
          </a:p>
        </p:txBody>
      </p:sp>
      <p:sp>
        <p:nvSpPr>
          <p:cNvPr id="13" name="Text 9"/>
          <p:cNvSpPr txBox="1"/>
          <p:nvPr/>
        </p:nvSpPr>
        <p:spPr>
          <a:xfrm>
            <a:off x="5623560" y="1691640"/>
            <a:ext cx="2834640" cy="274320"/>
          </a:xfrm>
          <a:prstGeom prst="rect">
            <a:avLst/>
          </a:prstGeom>
          <a:noFill/>
          <a:ln/>
        </p:spPr>
        <p:txBody>
          <a:bodyPr wrap="square" lIns="0" tIns="0" rIns="0" bIns="0" rtlCol="0" anchor="ctr"/>
          <a:lstStyle/>
          <a:p>
            <a:pPr indent="0" marL="0">
              <a:buNone/>
            </a:pPr>
            <a:r>
              <a:rPr lang="en-US" sz="1400" b="1" dirty="0">
                <a:solidFill>
                  <a:schemeClr val="accent2"/>
                </a:solidFill>
              </a:rPr>
              <a:t>Recommended: ESP32-DevKitC</a:t>
            </a:r>
            <a:endParaRPr lang="en-US" sz="1400" dirty="0"/>
          </a:p>
        </p:txBody>
      </p:sp>
      <p:sp>
        <p:nvSpPr>
          <p:cNvPr id="14" name="Text 10"/>
          <p:cNvSpPr txBox="1"/>
          <p:nvPr/>
        </p:nvSpPr>
        <p:spPr>
          <a:xfrm>
            <a:off x="5623560" y="1984248"/>
            <a:ext cx="2834640" cy="804672"/>
          </a:xfrm>
          <a:prstGeom prst="rect">
            <a:avLst/>
          </a:prstGeom>
          <a:noFill/>
          <a:ln/>
        </p:spPr>
        <p:txBody>
          <a:bodyPr wrap="square" lIns="0" tIns="0" rIns="0" bIns="0" rtlCol="0" anchor="t"/>
          <a:lstStyle/>
          <a:p>
            <a:pPr indent="0" marL="0">
              <a:buNone/>
            </a:pPr>
            <a:r>
              <a:rPr lang="en-US" sz="1300" dirty="0">
                <a:solidFill>
                  <a:schemeClr val="tx1"/>
                </a:solidFill>
              </a:rPr>
              <a:t>Built-in Wi-Fi and Bluetooth simplify wireless connectivity.</a:t>
            </a:r>
            <a:endParaRPr lang="en-US" sz="1300" dirty="0"/>
          </a:p>
        </p:txBody>
      </p:sp>
      <p:sp>
        <p:nvSpPr>
          <p:cNvPr id="15" name="Card"/>
          <p:cNvSpPr/>
          <p:nvPr/>
        </p:nvSpPr>
        <p:spPr>
          <a:xfrm>
            <a:off x="548640" y="3017520"/>
            <a:ext cx="3931920" cy="1600200"/>
          </a:xfrm>
          <a:prstGeom prst="roundRect">
            <a:avLst>
              <a:gd name="adj" fmla="val 6857"/>
            </a:avLst>
          </a:prstGeom>
          <a:solidFill>
            <a:schemeClr val="bg2"/>
          </a:solidFill>
          <a:ln w="12700">
            <a:solidFill>
              <a:schemeClr val="bg2"/>
            </a:solidFill>
            <a:prstDash val="solid"/>
          </a:ln>
        </p:spPr>
      </p:sp>
      <p:sp>
        <p:nvSpPr>
          <p:cNvPr id="16" name="Icon circle"/>
          <p:cNvSpPr/>
          <p:nvPr/>
        </p:nvSpPr>
        <p:spPr>
          <a:xfrm>
            <a:off x="731520" y="3200400"/>
            <a:ext cx="594360" cy="594360"/>
          </a:xfrm>
          <a:prstGeom prst="ellipse">
            <a:avLst/>
          </a:prstGeom>
          <a:solidFill>
            <a:schemeClr val="accent2"/>
          </a:solidFill>
          <a:ln w="12700">
            <a:solidFill>
              <a:schemeClr val="accent2"/>
            </a:solidFill>
            <a:prstDash val="solid"/>
          </a:ln>
        </p:spPr>
      </p:sp>
      <p:pic>
        <p:nvPicPr>
          <p:cNvPr id="17" name="Image 2" descr="icon">    </p:cNvPr>
          <p:cNvPicPr>
            <a:picLocks noChangeAspect="1"/>
          </p:cNvPicPr>
          <p:nvPr/>
        </p:nvPicPr>
        <p:blipFill>
          <a:blip r:embed="rId3"/>
          <a:stretch>
            <a:fillRect/>
          </a:stretch>
        </p:blipFill>
        <p:spPr>
          <a:xfrm>
            <a:off x="880110" y="3348990"/>
            <a:ext cx="297180" cy="297180"/>
          </a:xfrm>
          <a:prstGeom prst="rect">
            <a:avLst/>
          </a:prstGeom>
        </p:spPr>
      </p:pic>
      <p:sp>
        <p:nvSpPr>
          <p:cNvPr id="18" name="Text 13"/>
          <p:cNvSpPr txBox="1"/>
          <p:nvPr/>
        </p:nvSpPr>
        <p:spPr>
          <a:xfrm>
            <a:off x="1508760" y="3127248"/>
            <a:ext cx="2834640" cy="320040"/>
          </a:xfrm>
          <a:prstGeom prst="rect">
            <a:avLst/>
          </a:prstGeom>
          <a:noFill/>
          <a:ln/>
        </p:spPr>
        <p:txBody>
          <a:bodyPr wrap="square" lIns="0" tIns="0" rIns="0" bIns="0" rtlCol="0" anchor="ctr"/>
          <a:lstStyle/>
          <a:p>
            <a:pPr indent="0" marL="0">
              <a:buNone/>
            </a:pPr>
            <a:r>
              <a:rPr lang="en-US" sz="1600" b="1" dirty="0">
                <a:solidFill>
                  <a:schemeClr val="tx1"/>
                </a:solidFill>
              </a:rPr>
              <a:t>Beginner Electronics</a:t>
            </a:r>
            <a:endParaRPr lang="en-US" sz="1600" dirty="0"/>
          </a:p>
        </p:txBody>
      </p:sp>
      <p:sp>
        <p:nvSpPr>
          <p:cNvPr id="19" name="Text 14"/>
          <p:cNvSpPr txBox="1"/>
          <p:nvPr/>
        </p:nvSpPr>
        <p:spPr>
          <a:xfrm>
            <a:off x="1508760" y="3474720"/>
            <a:ext cx="2834640" cy="274320"/>
          </a:xfrm>
          <a:prstGeom prst="rect">
            <a:avLst/>
          </a:prstGeom>
          <a:noFill/>
          <a:ln/>
        </p:spPr>
        <p:txBody>
          <a:bodyPr wrap="square" lIns="0" tIns="0" rIns="0" bIns="0" rtlCol="0" anchor="ctr"/>
          <a:lstStyle/>
          <a:p>
            <a:pPr indent="0" marL="0">
              <a:buNone/>
            </a:pPr>
            <a:r>
              <a:rPr lang="en-US" sz="1400" b="1" dirty="0">
                <a:solidFill>
                  <a:schemeClr val="accent2"/>
                </a:solidFill>
              </a:rPr>
              <a:t>Recommended: Arduino Uno R3</a:t>
            </a:r>
            <a:endParaRPr lang="en-US" sz="1400" dirty="0"/>
          </a:p>
        </p:txBody>
      </p:sp>
      <p:sp>
        <p:nvSpPr>
          <p:cNvPr id="20" name="Text 15"/>
          <p:cNvSpPr txBox="1"/>
          <p:nvPr/>
        </p:nvSpPr>
        <p:spPr>
          <a:xfrm>
            <a:off x="1508760" y="3767328"/>
            <a:ext cx="2834640" cy="804672"/>
          </a:xfrm>
          <a:prstGeom prst="rect">
            <a:avLst/>
          </a:prstGeom>
          <a:noFill/>
          <a:ln/>
        </p:spPr>
        <p:txBody>
          <a:bodyPr wrap="square" lIns="0" tIns="0" rIns="0" bIns="0" rtlCol="0" anchor="t"/>
          <a:lstStyle/>
          <a:p>
            <a:pPr indent="0" marL="0">
              <a:buNone/>
            </a:pPr>
            <a:r>
              <a:rPr lang="en-US" sz="1300" dirty="0">
                <a:solidFill>
                  <a:schemeClr val="tx1"/>
                </a:solidFill>
              </a:rPr>
              <a:t>A beginner-friendly ecosystem and extensive learning resources.</a:t>
            </a:r>
            <a:endParaRPr lang="en-US" sz="1300" dirty="0"/>
          </a:p>
        </p:txBody>
      </p:sp>
      <p:sp>
        <p:nvSpPr>
          <p:cNvPr id="21" name="Card"/>
          <p:cNvSpPr/>
          <p:nvPr/>
        </p:nvSpPr>
        <p:spPr>
          <a:xfrm>
            <a:off x="4663440" y="3017520"/>
            <a:ext cx="3931920" cy="1600200"/>
          </a:xfrm>
          <a:prstGeom prst="roundRect">
            <a:avLst>
              <a:gd name="adj" fmla="val 6857"/>
            </a:avLst>
          </a:prstGeom>
          <a:solidFill>
            <a:schemeClr val="bg2"/>
          </a:solidFill>
          <a:ln w="12700">
            <a:solidFill>
              <a:schemeClr val="bg2"/>
            </a:solidFill>
            <a:prstDash val="solid"/>
          </a:ln>
        </p:spPr>
      </p:sp>
      <p:sp>
        <p:nvSpPr>
          <p:cNvPr id="22" name="Icon circle"/>
          <p:cNvSpPr/>
          <p:nvPr/>
        </p:nvSpPr>
        <p:spPr>
          <a:xfrm>
            <a:off x="4846320" y="3200400"/>
            <a:ext cx="594360" cy="594360"/>
          </a:xfrm>
          <a:prstGeom prst="ellipse">
            <a:avLst/>
          </a:prstGeom>
          <a:solidFill>
            <a:schemeClr val="accent2"/>
          </a:solidFill>
          <a:ln w="12700">
            <a:solidFill>
              <a:schemeClr val="accent2"/>
            </a:solidFill>
            <a:prstDash val="solid"/>
          </a:ln>
        </p:spPr>
      </p:sp>
      <p:pic>
        <p:nvPicPr>
          <p:cNvPr id="23" name="Image 3" descr="icon">    </p:cNvPr>
          <p:cNvPicPr>
            <a:picLocks noChangeAspect="1"/>
          </p:cNvPicPr>
          <p:nvPr/>
        </p:nvPicPr>
        <p:blipFill>
          <a:blip r:embed="rId4"/>
          <a:stretch>
            <a:fillRect/>
          </a:stretch>
        </p:blipFill>
        <p:spPr>
          <a:xfrm>
            <a:off x="4994910" y="3348990"/>
            <a:ext cx="297180" cy="297180"/>
          </a:xfrm>
          <a:prstGeom prst="rect">
            <a:avLst/>
          </a:prstGeom>
        </p:spPr>
      </p:pic>
      <p:sp>
        <p:nvSpPr>
          <p:cNvPr id="24" name="Text 18"/>
          <p:cNvSpPr txBox="1"/>
          <p:nvPr/>
        </p:nvSpPr>
        <p:spPr>
          <a:xfrm>
            <a:off x="5623560" y="3127248"/>
            <a:ext cx="2834640" cy="320040"/>
          </a:xfrm>
          <a:prstGeom prst="rect">
            <a:avLst/>
          </a:prstGeom>
          <a:noFill/>
          <a:ln/>
        </p:spPr>
        <p:txBody>
          <a:bodyPr wrap="square" lIns="0" tIns="0" rIns="0" bIns="0" rtlCol="0" anchor="ctr"/>
          <a:lstStyle/>
          <a:p>
            <a:pPr indent="0" marL="0">
              <a:buNone/>
            </a:pPr>
            <a:r>
              <a:rPr lang="en-US" sz="1600" b="1" dirty="0">
                <a:solidFill>
                  <a:schemeClr val="tx1"/>
                </a:solidFill>
              </a:rPr>
              <a:t>Real-Time Embedded Control</a:t>
            </a:r>
            <a:endParaRPr lang="en-US" sz="1600" dirty="0"/>
          </a:p>
        </p:txBody>
      </p:sp>
      <p:sp>
        <p:nvSpPr>
          <p:cNvPr id="25" name="Text 19"/>
          <p:cNvSpPr txBox="1"/>
          <p:nvPr/>
        </p:nvSpPr>
        <p:spPr>
          <a:xfrm>
            <a:off x="5623560" y="3474720"/>
            <a:ext cx="2834640" cy="274320"/>
          </a:xfrm>
          <a:prstGeom prst="rect">
            <a:avLst/>
          </a:prstGeom>
          <a:noFill/>
          <a:ln/>
        </p:spPr>
        <p:txBody>
          <a:bodyPr wrap="square" lIns="0" tIns="0" rIns="0" bIns="0" rtlCol="0" anchor="ctr"/>
          <a:lstStyle/>
          <a:p>
            <a:pPr indent="0" marL="0">
              <a:buNone/>
            </a:pPr>
            <a:r>
              <a:rPr lang="en-US" sz="1400" b="1" dirty="0">
                <a:solidFill>
                  <a:schemeClr val="accent2"/>
                </a:solidFill>
              </a:rPr>
              <a:t>Recommended: STM32 Blue Pill</a:t>
            </a:r>
            <a:endParaRPr lang="en-US" sz="1400" dirty="0"/>
          </a:p>
        </p:txBody>
      </p:sp>
      <p:sp>
        <p:nvSpPr>
          <p:cNvPr id="26" name="Text 20"/>
          <p:cNvSpPr txBox="1"/>
          <p:nvPr/>
        </p:nvSpPr>
        <p:spPr>
          <a:xfrm>
            <a:off x="5623560" y="3767328"/>
            <a:ext cx="2834640" cy="804672"/>
          </a:xfrm>
          <a:prstGeom prst="rect">
            <a:avLst/>
          </a:prstGeom>
          <a:noFill/>
          <a:ln/>
        </p:spPr>
        <p:txBody>
          <a:bodyPr wrap="square" lIns="0" tIns="0" rIns="0" bIns="0" rtlCol="0" anchor="t"/>
          <a:lstStyle/>
          <a:p>
            <a:pPr indent="0" marL="0">
              <a:buNone/>
            </a:pPr>
            <a:r>
              <a:rPr lang="en-US" sz="1300" dirty="0">
                <a:solidFill>
                  <a:schemeClr val="tx1"/>
                </a:solidFill>
              </a:rPr>
              <a:t>The Cortex-M3 architecture is suitable for many embedded-control applications.</a:t>
            </a:r>
            <a:endParaRPr lang="en-US" sz="1300" dirty="0"/>
          </a:p>
        </p:txBody>
      </p:sp>
      <p:sp>
        <p:nvSpPr>
          <p:cNvPr id="25" name="Slide Number Placeholder 0"/>
          <p:cNvSpPr>
            <a:spLocks noGrp="1"/>
          </p:cNvSpPr>
          <p:nvPr>
            <p:ph type="sldNum" sz="quarter" idx="4294967295"/>
          </p:nvPr>
        </p:nvSpPr>
        <p:spPr>
          <a:xfrm>
            <a:off x="832104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Results and Limitations</a:t>
            </a:r>
            <a:endParaRPr lang="en-US" sz="3600" dirty="0"/>
          </a:p>
        </p:txBody>
      </p:sp>
      <p:sp>
        <p:nvSpPr>
          <p:cNvPr id="3" name="Card"/>
          <p:cNvSpPr/>
          <p:nvPr/>
        </p:nvSpPr>
        <p:spPr>
          <a:xfrm>
            <a:off x="548640" y="1280160"/>
            <a:ext cx="3931920" cy="2926080"/>
          </a:xfrm>
          <a:prstGeom prst="roundRect">
            <a:avLst>
              <a:gd name="adj" fmla="val 3750"/>
            </a:avLst>
          </a:prstGeom>
          <a:solidFill>
            <a:schemeClr val="bg2"/>
          </a:solidFill>
          <a:ln w="12700">
            <a:solidFill>
              <a:schemeClr val="bg2"/>
            </a:solidFill>
            <a:prstDash val="solid"/>
          </a:ln>
        </p:spPr>
      </p:sp>
      <p:sp>
        <p:nvSpPr>
          <p:cNvPr id="4" name="Card"/>
          <p:cNvSpPr/>
          <p:nvPr/>
        </p:nvSpPr>
        <p:spPr>
          <a:xfrm>
            <a:off x="4663440" y="1280160"/>
            <a:ext cx="3931920" cy="2926080"/>
          </a:xfrm>
          <a:prstGeom prst="roundRect">
            <a:avLst>
              <a:gd name="adj" fmla="val 3750"/>
            </a:avLst>
          </a:prstGeom>
          <a:solidFill>
            <a:schemeClr val="bg2"/>
          </a:solidFill>
          <a:ln w="12700">
            <a:solidFill>
              <a:schemeClr val="bg2"/>
            </a:solidFill>
            <a:prstDash val="solid"/>
          </a:ln>
        </p:spPr>
      </p:sp>
      <p:sp>
        <p:nvSpPr>
          <p:cNvPr id="5" name="Icon circle"/>
          <p:cNvSpPr/>
          <p:nvPr/>
        </p:nvSpPr>
        <p:spPr>
          <a:xfrm>
            <a:off x="777240" y="1508760"/>
            <a:ext cx="594360" cy="594360"/>
          </a:xfrm>
          <a:prstGeom prst="ellipse">
            <a:avLst/>
          </a:prstGeom>
          <a:solidFill>
            <a:schemeClr val="accent2"/>
          </a:solidFill>
          <a:ln w="12700">
            <a:solidFill>
              <a:schemeClr val="accent2"/>
            </a:solidFill>
            <a:prstDash val="solid"/>
          </a:ln>
        </p:spPr>
      </p:sp>
      <p:pic>
        <p:nvPicPr>
          <p:cNvPr id="6" name="Image 0" descr="icon">    </p:cNvPr>
          <p:cNvPicPr>
            <a:picLocks noChangeAspect="1"/>
          </p:cNvPicPr>
          <p:nvPr/>
        </p:nvPicPr>
        <p:blipFill>
          <a:blip r:embed="rId1"/>
          <a:stretch>
            <a:fillRect/>
          </a:stretch>
        </p:blipFill>
        <p:spPr>
          <a:xfrm>
            <a:off x="925830" y="1657350"/>
            <a:ext cx="297180" cy="297180"/>
          </a:xfrm>
          <a:prstGeom prst="rect">
            <a:avLst/>
          </a:prstGeom>
        </p:spPr>
      </p:pic>
      <p:sp>
        <p:nvSpPr>
          <p:cNvPr id="7" name="Text 4"/>
          <p:cNvSpPr txBox="1"/>
          <p:nvPr/>
        </p:nvSpPr>
        <p:spPr>
          <a:xfrm>
            <a:off x="1508760" y="1508760"/>
            <a:ext cx="2743200" cy="594360"/>
          </a:xfrm>
          <a:prstGeom prst="rect">
            <a:avLst/>
          </a:prstGeom>
          <a:noFill/>
          <a:ln/>
        </p:spPr>
        <p:txBody>
          <a:bodyPr wrap="square" lIns="0" tIns="0" rIns="0" bIns="0" rtlCol="0" anchor="ctr"/>
          <a:lstStyle/>
          <a:p>
            <a:pPr indent="0" marL="0">
              <a:buNone/>
            </a:pPr>
            <a:r>
              <a:rPr lang="en-US" sz="2000" b="1" dirty="0">
                <a:solidFill>
                  <a:schemeClr val="tx1"/>
                </a:solidFill>
              </a:rPr>
              <a:t>Result</a:t>
            </a:r>
            <a:endParaRPr lang="en-US" sz="2000" dirty="0"/>
          </a:p>
        </p:txBody>
      </p:sp>
      <p:sp>
        <p:nvSpPr>
          <p:cNvPr id="8" name="Text 5"/>
          <p:cNvSpPr txBox="1"/>
          <p:nvPr/>
        </p:nvSpPr>
        <p:spPr>
          <a:xfrm>
            <a:off x="777240" y="2331720"/>
            <a:ext cx="3474720" cy="2103120"/>
          </a:xfrm>
          <a:prstGeom prst="rect">
            <a:avLst/>
          </a:prstGeom>
          <a:noFill/>
          <a:ln/>
        </p:spPr>
        <p:txBody>
          <a:bodyPr wrap="square" lIns="0" tIns="0" rIns="0" bIns="0" rtlCol="0" anchor="t"/>
          <a:lstStyle/>
          <a:p>
            <a:pPr indent="0" marL="0">
              <a:buNone/>
            </a:pPr>
            <a:r>
              <a:rPr lang="en-US" sz="1500" dirty="0">
                <a:solidFill>
                  <a:schemeClr val="tx1"/>
                </a:solidFill>
              </a:rPr>
              <a:t>Each platform has different strengths. The best choice depends on the application's processing, connectivity, timing, and learning requirements. The recommendations are qualitative, based on technical features rather than controlled performance benchmarks.</a:t>
            </a:r>
            <a:endParaRPr lang="en-US" sz="1500" dirty="0"/>
          </a:p>
        </p:txBody>
      </p:sp>
      <p:sp>
        <p:nvSpPr>
          <p:cNvPr id="9" name="Icon circle"/>
          <p:cNvSpPr/>
          <p:nvPr/>
        </p:nvSpPr>
        <p:spPr>
          <a:xfrm>
            <a:off x="4892040" y="1508760"/>
            <a:ext cx="594360" cy="594360"/>
          </a:xfrm>
          <a:prstGeom prst="ellipse">
            <a:avLst/>
          </a:prstGeom>
          <a:solidFill>
            <a:schemeClr val="accent6"/>
          </a:solidFill>
          <a:ln w="12700">
            <a:solidFill>
              <a:schemeClr val="accent6"/>
            </a:solidFill>
            <a:prstDash val="solid"/>
          </a:ln>
        </p:spPr>
      </p:sp>
      <p:pic>
        <p:nvPicPr>
          <p:cNvPr id="10" name="Image 1" descr="icon">    </p:cNvPr>
          <p:cNvPicPr>
            <a:picLocks noChangeAspect="1"/>
          </p:cNvPicPr>
          <p:nvPr/>
        </p:nvPicPr>
        <p:blipFill>
          <a:blip r:embed="rId2"/>
          <a:stretch>
            <a:fillRect/>
          </a:stretch>
        </p:blipFill>
        <p:spPr>
          <a:xfrm>
            <a:off x="5040630" y="1657350"/>
            <a:ext cx="297180" cy="297180"/>
          </a:xfrm>
          <a:prstGeom prst="rect">
            <a:avLst/>
          </a:prstGeom>
        </p:spPr>
      </p:pic>
      <p:sp>
        <p:nvSpPr>
          <p:cNvPr id="11" name="Text 7"/>
          <p:cNvSpPr txBox="1"/>
          <p:nvPr/>
        </p:nvSpPr>
        <p:spPr>
          <a:xfrm>
            <a:off x="5623560" y="1508760"/>
            <a:ext cx="2743200" cy="594360"/>
          </a:xfrm>
          <a:prstGeom prst="rect">
            <a:avLst/>
          </a:prstGeom>
          <a:noFill/>
          <a:ln/>
        </p:spPr>
        <p:txBody>
          <a:bodyPr wrap="square" lIns="0" tIns="0" rIns="0" bIns="0" rtlCol="0" anchor="ctr"/>
          <a:lstStyle/>
          <a:p>
            <a:pPr indent="0" marL="0">
              <a:buNone/>
            </a:pPr>
            <a:r>
              <a:rPr lang="en-US" sz="2000" b="1" dirty="0">
                <a:solidFill>
                  <a:schemeClr val="tx1"/>
                </a:solidFill>
              </a:rPr>
              <a:t>Limitation</a:t>
            </a:r>
            <a:endParaRPr lang="en-US" sz="2000" dirty="0"/>
          </a:p>
        </p:txBody>
      </p:sp>
      <p:sp>
        <p:nvSpPr>
          <p:cNvPr id="12" name="Text 8"/>
          <p:cNvSpPr txBox="1"/>
          <p:nvPr/>
        </p:nvSpPr>
        <p:spPr>
          <a:xfrm>
            <a:off x="4892040" y="2331720"/>
            <a:ext cx="3474720" cy="2103120"/>
          </a:xfrm>
          <a:prstGeom prst="rect">
            <a:avLst/>
          </a:prstGeom>
          <a:noFill/>
          <a:ln/>
        </p:spPr>
        <p:txBody>
          <a:bodyPr wrap="square" lIns="0" tIns="0" rIns="0" bIns="0" rtlCol="0" anchor="t"/>
          <a:lstStyle/>
          <a:p>
            <a:pPr indent="0" marL="0">
              <a:buNone/>
            </a:pPr>
            <a:r>
              <a:rPr lang="en-US" sz="1500" dirty="0">
                <a:solidFill>
                  <a:schemeClr val="tx1"/>
                </a:solidFill>
              </a:rPr>
              <a:t>The project uses technical specifications and qualitative suitability scores. It does not establish real-world performance rankings through hardware testing.</a:t>
            </a:r>
            <a:endParaRPr lang="en-US" sz="1500" dirty="0"/>
          </a:p>
        </p:txBody>
      </p:sp>
      <p:sp>
        <p:nvSpPr>
          <p:cNvPr id="25" name="Slide Number Placeholder 0"/>
          <p:cNvSpPr>
            <a:spLocks noGrp="1"/>
          </p:cNvSpPr>
          <p:nvPr>
            <p:ph type="sldNum" sz="quarter" idx="4294967295"/>
          </p:nvPr>
        </p:nvSpPr>
        <p:spPr>
          <a:xfrm>
            <a:off x="832104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AI Verification and Automation</a:t>
            </a:r>
            <a:endParaRPr lang="en-US" sz="3600" dirty="0"/>
          </a:p>
        </p:txBody>
      </p:sp>
      <p:sp>
        <p:nvSpPr>
          <p:cNvPr id="3" name="Card"/>
          <p:cNvSpPr/>
          <p:nvPr/>
        </p:nvSpPr>
        <p:spPr>
          <a:xfrm>
            <a:off x="548640" y="1280160"/>
            <a:ext cx="2560320" cy="3291840"/>
          </a:xfrm>
          <a:prstGeom prst="roundRect">
            <a:avLst>
              <a:gd name="adj" fmla="val 4286"/>
            </a:avLst>
          </a:prstGeom>
          <a:solidFill>
            <a:schemeClr val="bg2"/>
          </a:solidFill>
          <a:ln w="12700">
            <a:solidFill>
              <a:schemeClr val="bg2"/>
            </a:solidFill>
            <a:prstDash val="solid"/>
          </a:ln>
        </p:spPr>
      </p:sp>
      <p:sp>
        <p:nvSpPr>
          <p:cNvPr id="4" name="Icon circle"/>
          <p:cNvSpPr/>
          <p:nvPr/>
        </p:nvSpPr>
        <p:spPr>
          <a:xfrm>
            <a:off x="731520" y="1463040"/>
            <a:ext cx="548640" cy="548640"/>
          </a:xfrm>
          <a:prstGeom prst="ellipse">
            <a:avLst/>
          </a:prstGeom>
          <a:solidFill>
            <a:schemeClr val="accent2"/>
          </a:solidFill>
          <a:ln w="12700">
            <a:solidFill>
              <a:schemeClr val="accent2"/>
            </a:solidFill>
            <a:prstDash val="solid"/>
          </a:ln>
        </p:spPr>
      </p:sp>
      <p:pic>
        <p:nvPicPr>
          <p:cNvPr id="5" name="Image 0" descr="icon">    </p:cNvPr>
          <p:cNvPicPr>
            <a:picLocks noChangeAspect="1"/>
          </p:cNvPicPr>
          <p:nvPr/>
        </p:nvPicPr>
        <p:blipFill>
          <a:blip r:embed="rId1"/>
          <a:stretch>
            <a:fillRect/>
          </a:stretch>
        </p:blipFill>
        <p:spPr>
          <a:xfrm>
            <a:off x="868680" y="1600200"/>
            <a:ext cx="274320" cy="274320"/>
          </a:xfrm>
          <a:prstGeom prst="rect">
            <a:avLst/>
          </a:prstGeom>
        </p:spPr>
      </p:pic>
      <p:sp>
        <p:nvSpPr>
          <p:cNvPr id="6" name="Text 3"/>
          <p:cNvSpPr txBox="1"/>
          <p:nvPr/>
        </p:nvSpPr>
        <p:spPr>
          <a:xfrm>
            <a:off x="1325880" y="1463040"/>
            <a:ext cx="1691640" cy="548640"/>
          </a:xfrm>
          <a:prstGeom prst="rect">
            <a:avLst/>
          </a:prstGeom>
          <a:noFill/>
          <a:ln/>
        </p:spPr>
        <p:txBody>
          <a:bodyPr wrap="square" lIns="0" tIns="0" rIns="0" bIns="0" rtlCol="0" anchor="ctr"/>
          <a:lstStyle/>
          <a:p>
            <a:pPr indent="0" marL="0">
              <a:buNone/>
            </a:pPr>
            <a:r>
              <a:rPr lang="en-US" sz="1500" b="1" dirty="0">
                <a:solidFill>
                  <a:schemeClr val="tx1"/>
                </a:solidFill>
              </a:rPr>
              <a:t>Role of AI</a:t>
            </a:r>
            <a:endParaRPr lang="en-US" sz="1500" dirty="0"/>
          </a:p>
        </p:txBody>
      </p:sp>
      <p:sp>
        <p:nvSpPr>
          <p:cNvPr id="7" name="Text 4"/>
          <p:cNvSpPr txBox="1"/>
          <p:nvPr/>
        </p:nvSpPr>
        <p:spPr>
          <a:xfrm>
            <a:off x="731520" y="2240280"/>
            <a:ext cx="2240280" cy="22402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Collected and organized technical information</a:t>
            </a:r>
            <a:endParaRPr lang="en-US" sz="1400" dirty="0"/>
          </a:p>
          <a:p>
            <a:pPr marL="342900" indent="-342900">
              <a:spcAft>
                <a:spcPts val="800"/>
              </a:spcAft>
              <a:buSzPct val="100000"/>
              <a:buChar char="•"/>
            </a:pPr>
            <a:r>
              <a:rPr lang="en-US" sz="1400" dirty="0">
                <a:solidFill>
                  <a:schemeClr val="tx1"/>
                </a:solidFill>
              </a:rPr>
              <a:t>Helped structure the comparison criteria</a:t>
            </a:r>
            <a:endParaRPr lang="en-US" sz="1400" dirty="0"/>
          </a:p>
          <a:p>
            <a:pPr marL="342900" indent="-342900">
              <a:spcAft>
                <a:spcPts val="800"/>
              </a:spcAft>
              <a:buSzPct val="100000"/>
              <a:buChar char="•"/>
            </a:pPr>
            <a:r>
              <a:rPr lang="en-US" sz="1400" dirty="0">
                <a:solidFill>
                  <a:schemeClr val="tx1"/>
                </a:solidFill>
              </a:rPr>
              <a:t>Supported the comparison and recommendation materials</a:t>
            </a:r>
            <a:endParaRPr lang="en-US" sz="1400" dirty="0"/>
          </a:p>
        </p:txBody>
      </p:sp>
      <p:sp>
        <p:nvSpPr>
          <p:cNvPr id="8" name="Card"/>
          <p:cNvSpPr/>
          <p:nvPr/>
        </p:nvSpPr>
        <p:spPr>
          <a:xfrm>
            <a:off x="3291840" y="1280160"/>
            <a:ext cx="2560320" cy="3291840"/>
          </a:xfrm>
          <a:prstGeom prst="roundRect">
            <a:avLst>
              <a:gd name="adj" fmla="val 4286"/>
            </a:avLst>
          </a:prstGeom>
          <a:solidFill>
            <a:schemeClr val="bg2"/>
          </a:solidFill>
          <a:ln w="12700">
            <a:solidFill>
              <a:schemeClr val="bg2"/>
            </a:solidFill>
            <a:prstDash val="solid"/>
          </a:ln>
        </p:spPr>
      </p:sp>
      <p:sp>
        <p:nvSpPr>
          <p:cNvPr id="9" name="Icon circle"/>
          <p:cNvSpPr/>
          <p:nvPr/>
        </p:nvSpPr>
        <p:spPr>
          <a:xfrm>
            <a:off x="3474720" y="1463040"/>
            <a:ext cx="548640" cy="548640"/>
          </a:xfrm>
          <a:prstGeom prst="ellipse">
            <a:avLst/>
          </a:prstGeom>
          <a:solidFill>
            <a:schemeClr val="accent2"/>
          </a:solidFill>
          <a:ln w="12700">
            <a:solidFill>
              <a:schemeClr val="accent2"/>
            </a:solidFill>
            <a:prstDash val="solid"/>
          </a:ln>
        </p:spPr>
      </p:sp>
      <p:pic>
        <p:nvPicPr>
          <p:cNvPr id="10" name="Image 1" descr="icon">    </p:cNvPr>
          <p:cNvPicPr>
            <a:picLocks noChangeAspect="1"/>
          </p:cNvPicPr>
          <p:nvPr/>
        </p:nvPicPr>
        <p:blipFill>
          <a:blip r:embed="rId2"/>
          <a:stretch>
            <a:fillRect/>
          </a:stretch>
        </p:blipFill>
        <p:spPr>
          <a:xfrm>
            <a:off x="3611880" y="1600200"/>
            <a:ext cx="274320" cy="274320"/>
          </a:xfrm>
          <a:prstGeom prst="rect">
            <a:avLst/>
          </a:prstGeom>
        </p:spPr>
      </p:pic>
      <p:sp>
        <p:nvSpPr>
          <p:cNvPr id="11" name="Text 7"/>
          <p:cNvSpPr txBox="1"/>
          <p:nvPr/>
        </p:nvSpPr>
        <p:spPr>
          <a:xfrm>
            <a:off x="4069080" y="1463040"/>
            <a:ext cx="1691640" cy="548640"/>
          </a:xfrm>
          <a:prstGeom prst="rect">
            <a:avLst/>
          </a:prstGeom>
          <a:noFill/>
          <a:ln/>
        </p:spPr>
        <p:txBody>
          <a:bodyPr wrap="square" lIns="0" tIns="0" rIns="0" bIns="0" rtlCol="0" anchor="ctr"/>
          <a:lstStyle/>
          <a:p>
            <a:pPr indent="0" marL="0">
              <a:buNone/>
            </a:pPr>
            <a:r>
              <a:rPr lang="en-US" sz="1500" b="1" dirty="0">
                <a:solidFill>
                  <a:schemeClr val="tx1"/>
                </a:solidFill>
              </a:rPr>
              <a:t>Verification</a:t>
            </a:r>
            <a:endParaRPr lang="en-US" sz="1500" dirty="0"/>
          </a:p>
        </p:txBody>
      </p:sp>
      <p:sp>
        <p:nvSpPr>
          <p:cNvPr id="12" name="Text 8"/>
          <p:cNvSpPr txBox="1"/>
          <p:nvPr/>
        </p:nvSpPr>
        <p:spPr>
          <a:xfrm>
            <a:off x="3474720" y="2240280"/>
            <a:ext cx="2240280" cy="22402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Checked specifications against official manufacturer documentation</a:t>
            </a:r>
            <a:endParaRPr lang="en-US" sz="1400" dirty="0"/>
          </a:p>
          <a:p>
            <a:pPr marL="342900" indent="-342900">
              <a:spcAft>
                <a:spcPts val="800"/>
              </a:spcAft>
              <a:buSzPct val="100000"/>
              <a:buChar char="•"/>
            </a:pPr>
            <a:r>
              <a:rPr lang="en-US" sz="1400" dirty="0">
                <a:solidFill>
                  <a:schemeClr val="tx1"/>
                </a:solidFill>
              </a:rPr>
              <a:t>Reviewed information for consistency and accuracy</a:t>
            </a:r>
            <a:endParaRPr lang="en-US" sz="1400" dirty="0"/>
          </a:p>
          <a:p>
            <a:pPr marL="342900" indent="-342900">
              <a:spcAft>
                <a:spcPts val="800"/>
              </a:spcAft>
              <a:buSzPct val="100000"/>
              <a:buChar char="•"/>
            </a:pPr>
            <a:r>
              <a:rPr lang="en-US" sz="1400" dirty="0">
                <a:solidFill>
                  <a:schemeClr val="tx1"/>
                </a:solidFill>
              </a:rPr>
              <a:t>Noted that AI responses may be outdated or incomplete</a:t>
            </a:r>
            <a:endParaRPr lang="en-US" sz="1400" dirty="0"/>
          </a:p>
        </p:txBody>
      </p:sp>
      <p:sp>
        <p:nvSpPr>
          <p:cNvPr id="13" name="Card"/>
          <p:cNvSpPr/>
          <p:nvPr/>
        </p:nvSpPr>
        <p:spPr>
          <a:xfrm>
            <a:off x="6035040" y="1280160"/>
            <a:ext cx="2560320" cy="3291840"/>
          </a:xfrm>
          <a:prstGeom prst="roundRect">
            <a:avLst>
              <a:gd name="adj" fmla="val 4286"/>
            </a:avLst>
          </a:prstGeom>
          <a:solidFill>
            <a:schemeClr val="bg2"/>
          </a:solidFill>
          <a:ln w="12700">
            <a:solidFill>
              <a:schemeClr val="bg2"/>
            </a:solidFill>
            <a:prstDash val="solid"/>
          </a:ln>
        </p:spPr>
      </p:sp>
      <p:sp>
        <p:nvSpPr>
          <p:cNvPr id="14" name="Icon circle"/>
          <p:cNvSpPr/>
          <p:nvPr/>
        </p:nvSpPr>
        <p:spPr>
          <a:xfrm>
            <a:off x="6217920" y="1463040"/>
            <a:ext cx="548640" cy="548640"/>
          </a:xfrm>
          <a:prstGeom prst="ellipse">
            <a:avLst/>
          </a:prstGeom>
          <a:solidFill>
            <a:schemeClr val="accent2"/>
          </a:solidFill>
          <a:ln w="12700">
            <a:solidFill>
              <a:schemeClr val="accent2"/>
            </a:solidFill>
            <a:prstDash val="solid"/>
          </a:ln>
        </p:spPr>
      </p:sp>
      <p:pic>
        <p:nvPicPr>
          <p:cNvPr id="15" name="Image 2" descr="icon">    </p:cNvPr>
          <p:cNvPicPr>
            <a:picLocks noChangeAspect="1"/>
          </p:cNvPicPr>
          <p:nvPr/>
        </p:nvPicPr>
        <p:blipFill>
          <a:blip r:embed="rId3"/>
          <a:stretch>
            <a:fillRect/>
          </a:stretch>
        </p:blipFill>
        <p:spPr>
          <a:xfrm>
            <a:off x="6355080" y="1600200"/>
            <a:ext cx="274320" cy="274320"/>
          </a:xfrm>
          <a:prstGeom prst="rect">
            <a:avLst/>
          </a:prstGeom>
        </p:spPr>
      </p:pic>
      <p:sp>
        <p:nvSpPr>
          <p:cNvPr id="16" name="Text 11"/>
          <p:cNvSpPr txBox="1"/>
          <p:nvPr/>
        </p:nvSpPr>
        <p:spPr>
          <a:xfrm>
            <a:off x="6812280" y="1463040"/>
            <a:ext cx="1691640" cy="548640"/>
          </a:xfrm>
          <a:prstGeom prst="rect">
            <a:avLst/>
          </a:prstGeom>
          <a:noFill/>
          <a:ln/>
        </p:spPr>
        <p:txBody>
          <a:bodyPr wrap="square" lIns="0" tIns="0" rIns="0" bIns="0" rtlCol="0" anchor="ctr"/>
          <a:lstStyle/>
          <a:p>
            <a:pPr indent="0" marL="0">
              <a:buNone/>
            </a:pPr>
            <a:r>
              <a:rPr lang="en-US" sz="1500" b="1" dirty="0">
                <a:solidFill>
                  <a:schemeClr val="tx1"/>
                </a:solidFill>
              </a:rPr>
              <a:t>Python Automation</a:t>
            </a:r>
            <a:endParaRPr lang="en-US" sz="1500" dirty="0"/>
          </a:p>
        </p:txBody>
      </p:sp>
      <p:sp>
        <p:nvSpPr>
          <p:cNvPr id="17" name="Text 12"/>
          <p:cNvSpPr txBox="1"/>
          <p:nvPr/>
        </p:nvSpPr>
        <p:spPr>
          <a:xfrm>
            <a:off x="6217920" y="2240280"/>
            <a:ext cx="2240280" cy="22402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Checked the dataset for missing values</a:t>
            </a:r>
            <a:endParaRPr lang="en-US" sz="1400" dirty="0"/>
          </a:p>
          <a:p>
            <a:pPr marL="342900" indent="-342900">
              <a:spcAft>
                <a:spcPts val="800"/>
              </a:spcAft>
              <a:buSzPct val="100000"/>
              <a:buChar char="•"/>
            </a:pPr>
            <a:r>
              <a:rPr lang="en-US" sz="1400" dirty="0">
                <a:solidFill>
                  <a:schemeClr val="tx1"/>
                </a:solidFill>
              </a:rPr>
              <a:t>Checked for duplicate platform names</a:t>
            </a:r>
            <a:endParaRPr lang="en-US" sz="1400" dirty="0"/>
          </a:p>
          <a:p>
            <a:pPr marL="342900" indent="-342900">
              <a:spcAft>
                <a:spcPts val="800"/>
              </a:spcAft>
              <a:buSzPct val="100000"/>
              <a:buChar char="•"/>
            </a:pPr>
            <a:r>
              <a:rPr lang="en-US" sz="1400" dirty="0">
                <a:solidFill>
                  <a:schemeClr val="tx1"/>
                </a:solidFill>
              </a:rPr>
              <a:t>Made basic validation faster and more consistent</a:t>
            </a:r>
            <a:endParaRPr lang="en-US" sz="1400" dirty="0"/>
          </a:p>
        </p:txBody>
      </p:sp>
      <p:sp>
        <p:nvSpPr>
          <p:cNvPr id="25" name="Slide Number Placeholder 0"/>
          <p:cNvSpPr>
            <a:spLocks noGrp="1"/>
          </p:cNvSpPr>
          <p:nvPr>
            <p:ph type="sldNum" sz="quarter" idx="4294967295"/>
          </p:nvPr>
        </p:nvSpPr>
        <p:spPr>
          <a:xfrm>
            <a:off x="832104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Conclusion</a:t>
            </a:r>
            <a:endParaRPr lang="en-US" sz="3600" dirty="0"/>
          </a:p>
        </p:txBody>
      </p:sp>
      <p:sp>
        <p:nvSpPr>
          <p:cNvPr id="3" name="Text 1"/>
          <p:cNvSpPr txBox="1"/>
          <p:nvPr/>
        </p:nvSpPr>
        <p:spPr>
          <a:xfrm>
            <a:off x="548640" y="1280160"/>
            <a:ext cx="4206240" cy="3291840"/>
          </a:xfrm>
          <a:prstGeom prst="rect">
            <a:avLst/>
          </a:prstGeom>
          <a:noFill/>
          <a:ln/>
        </p:spPr>
        <p:txBody>
          <a:bodyPr wrap="square" lIns="0" tIns="0" rIns="0" bIns="0" rtlCol="0" anchor="t"/>
          <a:lstStyle/>
          <a:p>
            <a:pPr indent="0" marL="0">
              <a:spcAft>
                <a:spcPts val="1400"/>
              </a:spcAft>
              <a:buNone/>
            </a:pPr>
            <a:r>
              <a:rPr lang="en-US" sz="1600" dirty="0">
                <a:solidFill>
                  <a:schemeClr val="tx1"/>
                </a:solidFill>
              </a:rPr>
              <a:t>Four microcontroller platforms were compared using technical specifications, official documentation, AI-assisted research, and Python automation.</a:t>
            </a:r>
            <a:endParaRPr lang="en-US" sz="1600" dirty="0"/>
          </a:p>
          <a:p>
            <a:pPr indent="0" marL="0">
              <a:spcAft>
                <a:spcPts val="1400"/>
              </a:spcAft>
              <a:buNone/>
            </a:pPr>
            <a:r>
              <a:rPr lang="en-US" sz="1600" b="1" dirty="0">
                <a:solidFill>
                  <a:schemeClr val="accent4"/>
                </a:solidFill>
              </a:rPr>
              <a:t>No single platform is best for every application. The choice depends on the project's requirements.</a:t>
            </a:r>
            <a:endParaRPr lang="en-US" sz="1600" dirty="0"/>
          </a:p>
        </p:txBody>
      </p:sp>
      <p:sp>
        <p:nvSpPr>
          <p:cNvPr id="4" name="Card"/>
          <p:cNvSpPr/>
          <p:nvPr/>
        </p:nvSpPr>
        <p:spPr>
          <a:xfrm>
            <a:off x="5120640" y="1280160"/>
            <a:ext cx="3474720" cy="3291840"/>
          </a:xfrm>
          <a:prstGeom prst="roundRect">
            <a:avLst>
              <a:gd name="adj" fmla="val 3333"/>
            </a:avLst>
          </a:prstGeom>
          <a:solidFill>
            <a:schemeClr val="bg2"/>
          </a:solidFill>
          <a:ln w="12700">
            <a:solidFill>
              <a:schemeClr val="bg2"/>
            </a:solidFill>
            <a:prstDash val="solid"/>
          </a:ln>
        </p:spPr>
      </p:sp>
      <p:sp>
        <p:nvSpPr>
          <p:cNvPr id="5" name="Text 3"/>
          <p:cNvSpPr txBox="1"/>
          <p:nvPr/>
        </p:nvSpPr>
        <p:spPr>
          <a:xfrm>
            <a:off x="5349240" y="1417320"/>
            <a:ext cx="3017520" cy="365760"/>
          </a:xfrm>
          <a:prstGeom prst="rect">
            <a:avLst/>
          </a:prstGeom>
          <a:noFill/>
          <a:ln/>
        </p:spPr>
        <p:txBody>
          <a:bodyPr wrap="square" lIns="0" tIns="0" rIns="0" bIns="0" rtlCol="0" anchor="ctr"/>
          <a:lstStyle/>
          <a:p>
            <a:pPr indent="0" marL="0">
              <a:buNone/>
            </a:pPr>
            <a:r>
              <a:rPr lang="en-US" sz="1600" b="1" dirty="0">
                <a:solidFill>
                  <a:schemeClr val="accent2"/>
                </a:solidFill>
              </a:rPr>
              <a:t>The choice depends on</a:t>
            </a:r>
            <a:endParaRPr lang="en-US" sz="1600" dirty="0"/>
          </a:p>
        </p:txBody>
      </p:sp>
      <p:sp>
        <p:nvSpPr>
          <p:cNvPr id="6" name="Icon circle"/>
          <p:cNvSpPr/>
          <p:nvPr/>
        </p:nvSpPr>
        <p:spPr>
          <a:xfrm>
            <a:off x="5349240" y="1920240"/>
            <a:ext cx="457200" cy="457200"/>
          </a:xfrm>
          <a:prstGeom prst="ellipse">
            <a:avLst/>
          </a:prstGeom>
          <a:solidFill>
            <a:schemeClr val="accent2"/>
          </a:solidFill>
          <a:ln w="12700">
            <a:solidFill>
              <a:schemeClr val="accent2"/>
            </a:solidFill>
            <a:prstDash val="solid"/>
          </a:ln>
        </p:spPr>
      </p:sp>
      <p:pic>
        <p:nvPicPr>
          <p:cNvPr id="7" name="Image 0" descr="icon">    </p:cNvPr>
          <p:cNvPicPr>
            <a:picLocks noChangeAspect="1"/>
          </p:cNvPicPr>
          <p:nvPr/>
        </p:nvPicPr>
        <p:blipFill>
          <a:blip r:embed="rId1"/>
          <a:stretch>
            <a:fillRect/>
          </a:stretch>
        </p:blipFill>
        <p:spPr>
          <a:xfrm>
            <a:off x="5463540" y="2034540"/>
            <a:ext cx="228600" cy="228600"/>
          </a:xfrm>
          <a:prstGeom prst="rect">
            <a:avLst/>
          </a:prstGeom>
        </p:spPr>
      </p:pic>
      <p:sp>
        <p:nvSpPr>
          <p:cNvPr id="8" name="Text 5"/>
          <p:cNvSpPr txBox="1"/>
          <p:nvPr/>
        </p:nvSpPr>
        <p:spPr>
          <a:xfrm>
            <a:off x="5943600" y="1920240"/>
            <a:ext cx="2560320" cy="457200"/>
          </a:xfrm>
          <a:prstGeom prst="rect">
            <a:avLst/>
          </a:prstGeom>
          <a:noFill/>
          <a:ln/>
        </p:spPr>
        <p:txBody>
          <a:bodyPr wrap="square" lIns="0" tIns="0" rIns="0" bIns="0" rtlCol="0" anchor="ctr"/>
          <a:lstStyle/>
          <a:p>
            <a:pPr indent="0" marL="0">
              <a:buNone/>
            </a:pPr>
            <a:r>
              <a:rPr lang="en-US" sz="1500" b="1" dirty="0">
                <a:solidFill>
                  <a:schemeClr val="tx1"/>
                </a:solidFill>
              </a:rPr>
              <a:t>Connectivity</a:t>
            </a:r>
            <a:endParaRPr lang="en-US" sz="1500" dirty="0"/>
          </a:p>
        </p:txBody>
      </p:sp>
      <p:sp>
        <p:nvSpPr>
          <p:cNvPr id="9" name="Icon circle"/>
          <p:cNvSpPr/>
          <p:nvPr/>
        </p:nvSpPr>
        <p:spPr>
          <a:xfrm>
            <a:off x="5349240" y="2578608"/>
            <a:ext cx="457200" cy="457200"/>
          </a:xfrm>
          <a:prstGeom prst="ellipse">
            <a:avLst/>
          </a:prstGeom>
          <a:solidFill>
            <a:schemeClr val="accent2"/>
          </a:solidFill>
          <a:ln w="12700">
            <a:solidFill>
              <a:schemeClr val="accent2"/>
            </a:solidFill>
            <a:prstDash val="solid"/>
          </a:ln>
        </p:spPr>
      </p:sp>
      <p:pic>
        <p:nvPicPr>
          <p:cNvPr id="10" name="Image 1" descr="icon">    </p:cNvPr>
          <p:cNvPicPr>
            <a:picLocks noChangeAspect="1"/>
          </p:cNvPicPr>
          <p:nvPr/>
        </p:nvPicPr>
        <p:blipFill>
          <a:blip r:embed="rId2"/>
          <a:stretch>
            <a:fillRect/>
          </a:stretch>
        </p:blipFill>
        <p:spPr>
          <a:xfrm>
            <a:off x="5463540" y="2692908"/>
            <a:ext cx="228600" cy="228600"/>
          </a:xfrm>
          <a:prstGeom prst="rect">
            <a:avLst/>
          </a:prstGeom>
        </p:spPr>
      </p:pic>
      <p:sp>
        <p:nvSpPr>
          <p:cNvPr id="11" name="Text 7"/>
          <p:cNvSpPr txBox="1"/>
          <p:nvPr/>
        </p:nvSpPr>
        <p:spPr>
          <a:xfrm>
            <a:off x="5943600" y="2578608"/>
            <a:ext cx="2560320" cy="457200"/>
          </a:xfrm>
          <a:prstGeom prst="rect">
            <a:avLst/>
          </a:prstGeom>
          <a:noFill/>
          <a:ln/>
        </p:spPr>
        <p:txBody>
          <a:bodyPr wrap="square" lIns="0" tIns="0" rIns="0" bIns="0" rtlCol="0" anchor="ctr"/>
          <a:lstStyle/>
          <a:p>
            <a:pPr indent="0" marL="0">
              <a:buNone/>
            </a:pPr>
            <a:r>
              <a:rPr lang="en-US" sz="1500" b="1" dirty="0">
                <a:solidFill>
                  <a:schemeClr val="tx1"/>
                </a:solidFill>
              </a:rPr>
              <a:t>Memory</a:t>
            </a:r>
            <a:endParaRPr lang="en-US" sz="1500" dirty="0"/>
          </a:p>
        </p:txBody>
      </p:sp>
      <p:sp>
        <p:nvSpPr>
          <p:cNvPr id="12" name="Icon circle"/>
          <p:cNvSpPr/>
          <p:nvPr/>
        </p:nvSpPr>
        <p:spPr>
          <a:xfrm>
            <a:off x="5349240" y="3236976"/>
            <a:ext cx="457200" cy="457200"/>
          </a:xfrm>
          <a:prstGeom prst="ellipse">
            <a:avLst/>
          </a:prstGeom>
          <a:solidFill>
            <a:schemeClr val="accent2"/>
          </a:solidFill>
          <a:ln w="12700">
            <a:solidFill>
              <a:schemeClr val="accent2"/>
            </a:solidFill>
            <a:prstDash val="solid"/>
          </a:ln>
        </p:spPr>
      </p:sp>
      <p:pic>
        <p:nvPicPr>
          <p:cNvPr id="13" name="Image 2" descr="icon">    </p:cNvPr>
          <p:cNvPicPr>
            <a:picLocks noChangeAspect="1"/>
          </p:cNvPicPr>
          <p:nvPr/>
        </p:nvPicPr>
        <p:blipFill>
          <a:blip r:embed="rId3"/>
          <a:stretch>
            <a:fillRect/>
          </a:stretch>
        </p:blipFill>
        <p:spPr>
          <a:xfrm>
            <a:off x="5463540" y="3351276"/>
            <a:ext cx="228600" cy="228600"/>
          </a:xfrm>
          <a:prstGeom prst="rect">
            <a:avLst/>
          </a:prstGeom>
        </p:spPr>
      </p:pic>
      <p:sp>
        <p:nvSpPr>
          <p:cNvPr id="14" name="Text 9"/>
          <p:cNvSpPr txBox="1"/>
          <p:nvPr/>
        </p:nvSpPr>
        <p:spPr>
          <a:xfrm>
            <a:off x="5943600" y="3236976"/>
            <a:ext cx="2560320" cy="457200"/>
          </a:xfrm>
          <a:prstGeom prst="rect">
            <a:avLst/>
          </a:prstGeom>
          <a:noFill/>
          <a:ln/>
        </p:spPr>
        <p:txBody>
          <a:bodyPr wrap="square" lIns="0" tIns="0" rIns="0" bIns="0" rtlCol="0" anchor="ctr"/>
          <a:lstStyle/>
          <a:p>
            <a:pPr indent="0" marL="0">
              <a:buNone/>
            </a:pPr>
            <a:r>
              <a:rPr lang="en-US" sz="1500" b="1" dirty="0">
                <a:solidFill>
                  <a:schemeClr val="tx1"/>
                </a:solidFill>
              </a:rPr>
              <a:t>Processing capability</a:t>
            </a:r>
            <a:endParaRPr lang="en-US" sz="1500" dirty="0"/>
          </a:p>
        </p:txBody>
      </p:sp>
      <p:sp>
        <p:nvSpPr>
          <p:cNvPr id="15" name="Icon circle"/>
          <p:cNvSpPr/>
          <p:nvPr/>
        </p:nvSpPr>
        <p:spPr>
          <a:xfrm>
            <a:off x="5349240" y="3895344"/>
            <a:ext cx="457200" cy="457200"/>
          </a:xfrm>
          <a:prstGeom prst="ellipse">
            <a:avLst/>
          </a:prstGeom>
          <a:solidFill>
            <a:schemeClr val="accent2"/>
          </a:solidFill>
          <a:ln w="12700">
            <a:solidFill>
              <a:schemeClr val="accent2"/>
            </a:solidFill>
            <a:prstDash val="solid"/>
          </a:ln>
        </p:spPr>
      </p:sp>
      <p:pic>
        <p:nvPicPr>
          <p:cNvPr id="16" name="Image 3" descr="icon">    </p:cNvPr>
          <p:cNvPicPr>
            <a:picLocks noChangeAspect="1"/>
          </p:cNvPicPr>
          <p:nvPr/>
        </p:nvPicPr>
        <p:blipFill>
          <a:blip r:embed="rId4"/>
          <a:stretch>
            <a:fillRect/>
          </a:stretch>
        </p:blipFill>
        <p:spPr>
          <a:xfrm>
            <a:off x="5463540" y="4009644"/>
            <a:ext cx="228600" cy="228600"/>
          </a:xfrm>
          <a:prstGeom prst="rect">
            <a:avLst/>
          </a:prstGeom>
        </p:spPr>
      </p:pic>
      <p:sp>
        <p:nvSpPr>
          <p:cNvPr id="17" name="Text 11"/>
          <p:cNvSpPr txBox="1"/>
          <p:nvPr/>
        </p:nvSpPr>
        <p:spPr>
          <a:xfrm>
            <a:off x="5943600" y="3895344"/>
            <a:ext cx="2560320" cy="457200"/>
          </a:xfrm>
          <a:prstGeom prst="rect">
            <a:avLst/>
          </a:prstGeom>
          <a:noFill/>
          <a:ln/>
        </p:spPr>
        <p:txBody>
          <a:bodyPr wrap="square" lIns="0" tIns="0" rIns="0" bIns="0" rtlCol="0" anchor="ctr"/>
          <a:lstStyle/>
          <a:p>
            <a:pPr indent="0" marL="0">
              <a:buNone/>
            </a:pPr>
            <a:r>
              <a:rPr lang="en-US" sz="1500" b="1" dirty="0">
                <a:solidFill>
                  <a:schemeClr val="tx1"/>
                </a:solidFill>
              </a:rPr>
              <a:t>Ease of development</a:t>
            </a:r>
            <a:endParaRPr lang="en-US" sz="1500" dirty="0"/>
          </a:p>
        </p:txBody>
      </p:sp>
      <p:sp>
        <p:nvSpPr>
          <p:cNvPr id="25" name="Slide Number Placeholder 0"/>
          <p:cNvSpPr>
            <a:spLocks noGrp="1"/>
          </p:cNvSpPr>
          <p:nvPr>
            <p:ph type="sldNum" sz="quarter" idx="4294967295"/>
          </p:nvPr>
        </p:nvSpPr>
        <p:spPr>
          <a:xfrm>
            <a:off x="832104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Future Scope</a:t>
            </a:r>
            <a:endParaRPr lang="en-US" sz="3600" dirty="0"/>
          </a:p>
        </p:txBody>
      </p:sp>
      <p:sp>
        <p:nvSpPr>
          <p:cNvPr id="3" name="Card"/>
          <p:cNvSpPr/>
          <p:nvPr/>
        </p:nvSpPr>
        <p:spPr>
          <a:xfrm>
            <a:off x="548640" y="1280160"/>
            <a:ext cx="8046720" cy="548640"/>
          </a:xfrm>
          <a:prstGeom prst="roundRect">
            <a:avLst>
              <a:gd name="adj" fmla="val 20000"/>
            </a:avLst>
          </a:prstGeom>
          <a:solidFill>
            <a:schemeClr val="bg2"/>
          </a:solidFill>
          <a:ln w="12700">
            <a:solidFill>
              <a:schemeClr val="bg2"/>
            </a:solidFill>
            <a:prstDash val="solid"/>
          </a:ln>
        </p:spPr>
      </p:sp>
      <p:sp>
        <p:nvSpPr>
          <p:cNvPr id="4" name="Icon circle"/>
          <p:cNvSpPr/>
          <p:nvPr/>
        </p:nvSpPr>
        <p:spPr>
          <a:xfrm>
            <a:off x="640080" y="1325880"/>
            <a:ext cx="457200" cy="457200"/>
          </a:xfrm>
          <a:prstGeom prst="ellipse">
            <a:avLst/>
          </a:prstGeom>
          <a:solidFill>
            <a:schemeClr val="accent2"/>
          </a:solidFill>
          <a:ln w="12700">
            <a:solidFill>
              <a:schemeClr val="accent2"/>
            </a:solidFill>
            <a:prstDash val="solid"/>
          </a:ln>
        </p:spPr>
      </p:sp>
      <p:pic>
        <p:nvPicPr>
          <p:cNvPr id="5" name="Image 0" descr="icon">    </p:cNvPr>
          <p:cNvPicPr>
            <a:picLocks noChangeAspect="1"/>
          </p:cNvPicPr>
          <p:nvPr/>
        </p:nvPicPr>
        <p:blipFill>
          <a:blip r:embed="rId1"/>
          <a:stretch>
            <a:fillRect/>
          </a:stretch>
        </p:blipFill>
        <p:spPr>
          <a:xfrm>
            <a:off x="754380" y="1440180"/>
            <a:ext cx="228600" cy="228600"/>
          </a:xfrm>
          <a:prstGeom prst="rect">
            <a:avLst/>
          </a:prstGeom>
        </p:spPr>
      </p:pic>
      <p:sp>
        <p:nvSpPr>
          <p:cNvPr id="6" name="Text 3"/>
          <p:cNvSpPr txBox="1"/>
          <p:nvPr/>
        </p:nvSpPr>
        <p:spPr>
          <a:xfrm>
            <a:off x="1280160" y="1280160"/>
            <a:ext cx="7223760" cy="548640"/>
          </a:xfrm>
          <a:prstGeom prst="rect">
            <a:avLst/>
          </a:prstGeom>
          <a:noFill/>
          <a:ln/>
        </p:spPr>
        <p:txBody>
          <a:bodyPr wrap="square" lIns="0" tIns="0" rIns="0" bIns="0" rtlCol="0" anchor="ctr"/>
          <a:lstStyle/>
          <a:p>
            <a:pPr indent="0" marL="0">
              <a:buNone/>
            </a:pPr>
            <a:r>
              <a:rPr lang="en-US" sz="1600" b="1" dirty="0">
                <a:solidFill>
                  <a:schemeClr val="tx1"/>
                </a:solidFill>
              </a:rPr>
              <a:t>Add a detailed cost comparison</a:t>
            </a:r>
            <a:endParaRPr lang="en-US" sz="1600" dirty="0"/>
          </a:p>
        </p:txBody>
      </p:sp>
      <p:sp>
        <p:nvSpPr>
          <p:cNvPr id="7" name="Card"/>
          <p:cNvSpPr/>
          <p:nvPr/>
        </p:nvSpPr>
        <p:spPr>
          <a:xfrm>
            <a:off x="548640" y="1938528"/>
            <a:ext cx="8046720" cy="548640"/>
          </a:xfrm>
          <a:prstGeom prst="roundRect">
            <a:avLst>
              <a:gd name="adj" fmla="val 20000"/>
            </a:avLst>
          </a:prstGeom>
          <a:solidFill>
            <a:schemeClr val="bg2"/>
          </a:solidFill>
          <a:ln w="12700">
            <a:solidFill>
              <a:schemeClr val="bg2"/>
            </a:solidFill>
            <a:prstDash val="solid"/>
          </a:ln>
        </p:spPr>
      </p:sp>
      <p:sp>
        <p:nvSpPr>
          <p:cNvPr id="8" name="Icon circle"/>
          <p:cNvSpPr/>
          <p:nvPr/>
        </p:nvSpPr>
        <p:spPr>
          <a:xfrm>
            <a:off x="640080" y="1984248"/>
            <a:ext cx="457200" cy="457200"/>
          </a:xfrm>
          <a:prstGeom prst="ellipse">
            <a:avLst/>
          </a:prstGeom>
          <a:solidFill>
            <a:schemeClr val="accent2"/>
          </a:solidFill>
          <a:ln w="12700">
            <a:solidFill>
              <a:schemeClr val="accent2"/>
            </a:solidFill>
            <a:prstDash val="solid"/>
          </a:ln>
        </p:spPr>
      </p:sp>
      <p:pic>
        <p:nvPicPr>
          <p:cNvPr id="9" name="Image 1" descr="icon">    </p:cNvPr>
          <p:cNvPicPr>
            <a:picLocks noChangeAspect="1"/>
          </p:cNvPicPr>
          <p:nvPr/>
        </p:nvPicPr>
        <p:blipFill>
          <a:blip r:embed="rId2"/>
          <a:stretch>
            <a:fillRect/>
          </a:stretch>
        </p:blipFill>
        <p:spPr>
          <a:xfrm>
            <a:off x="754380" y="2098548"/>
            <a:ext cx="228600" cy="228600"/>
          </a:xfrm>
          <a:prstGeom prst="rect">
            <a:avLst/>
          </a:prstGeom>
        </p:spPr>
      </p:pic>
      <p:sp>
        <p:nvSpPr>
          <p:cNvPr id="10" name="Text 6"/>
          <p:cNvSpPr txBox="1"/>
          <p:nvPr/>
        </p:nvSpPr>
        <p:spPr>
          <a:xfrm>
            <a:off x="1280160" y="1938528"/>
            <a:ext cx="7223760" cy="548640"/>
          </a:xfrm>
          <a:prstGeom prst="rect">
            <a:avLst/>
          </a:prstGeom>
          <a:noFill/>
          <a:ln/>
        </p:spPr>
        <p:txBody>
          <a:bodyPr wrap="square" lIns="0" tIns="0" rIns="0" bIns="0" rtlCol="0" anchor="ctr"/>
          <a:lstStyle/>
          <a:p>
            <a:pPr indent="0" marL="0">
              <a:buNone/>
            </a:pPr>
            <a:r>
              <a:rPr lang="en-US" sz="1600" b="1" dirty="0">
                <a:solidFill>
                  <a:schemeClr val="tx1"/>
                </a:solidFill>
              </a:rPr>
              <a:t>Conduct controlled performance tests on physical boards</a:t>
            </a:r>
            <a:endParaRPr lang="en-US" sz="1600" dirty="0"/>
          </a:p>
        </p:txBody>
      </p:sp>
      <p:sp>
        <p:nvSpPr>
          <p:cNvPr id="11" name="Card"/>
          <p:cNvSpPr/>
          <p:nvPr/>
        </p:nvSpPr>
        <p:spPr>
          <a:xfrm>
            <a:off x="548640" y="2596896"/>
            <a:ext cx="8046720" cy="548640"/>
          </a:xfrm>
          <a:prstGeom prst="roundRect">
            <a:avLst>
              <a:gd name="adj" fmla="val 20000"/>
            </a:avLst>
          </a:prstGeom>
          <a:solidFill>
            <a:schemeClr val="bg2"/>
          </a:solidFill>
          <a:ln w="12700">
            <a:solidFill>
              <a:schemeClr val="bg2"/>
            </a:solidFill>
            <a:prstDash val="solid"/>
          </a:ln>
        </p:spPr>
      </p:sp>
      <p:sp>
        <p:nvSpPr>
          <p:cNvPr id="12" name="Icon circle"/>
          <p:cNvSpPr/>
          <p:nvPr/>
        </p:nvSpPr>
        <p:spPr>
          <a:xfrm>
            <a:off x="640080" y="2642616"/>
            <a:ext cx="457200" cy="457200"/>
          </a:xfrm>
          <a:prstGeom prst="ellipse">
            <a:avLst/>
          </a:prstGeom>
          <a:solidFill>
            <a:schemeClr val="accent2"/>
          </a:solidFill>
          <a:ln w="12700">
            <a:solidFill>
              <a:schemeClr val="accent2"/>
            </a:solidFill>
            <a:prstDash val="solid"/>
          </a:ln>
        </p:spPr>
      </p:sp>
      <p:pic>
        <p:nvPicPr>
          <p:cNvPr id="13" name="Image 2" descr="icon">    </p:cNvPr>
          <p:cNvPicPr>
            <a:picLocks noChangeAspect="1"/>
          </p:cNvPicPr>
          <p:nvPr/>
        </p:nvPicPr>
        <p:blipFill>
          <a:blip r:embed="rId3"/>
          <a:stretch>
            <a:fillRect/>
          </a:stretch>
        </p:blipFill>
        <p:spPr>
          <a:xfrm>
            <a:off x="754380" y="2756916"/>
            <a:ext cx="228600" cy="228600"/>
          </a:xfrm>
          <a:prstGeom prst="rect">
            <a:avLst/>
          </a:prstGeom>
        </p:spPr>
      </p:pic>
      <p:sp>
        <p:nvSpPr>
          <p:cNvPr id="14" name="Text 9"/>
          <p:cNvSpPr txBox="1"/>
          <p:nvPr/>
        </p:nvSpPr>
        <p:spPr>
          <a:xfrm>
            <a:off x="1280160" y="2596896"/>
            <a:ext cx="7223760" cy="548640"/>
          </a:xfrm>
          <a:prstGeom prst="rect">
            <a:avLst/>
          </a:prstGeom>
          <a:noFill/>
          <a:ln/>
        </p:spPr>
        <p:txBody>
          <a:bodyPr wrap="square" lIns="0" tIns="0" rIns="0" bIns="0" rtlCol="0" anchor="ctr"/>
          <a:lstStyle/>
          <a:p>
            <a:pPr indent="0" marL="0">
              <a:buNone/>
            </a:pPr>
            <a:r>
              <a:rPr lang="en-US" sz="1600" b="1" dirty="0">
                <a:solidFill>
                  <a:schemeClr val="tx1"/>
                </a:solidFill>
              </a:rPr>
              <a:t>Evaluate power consumption and processing efficiency</a:t>
            </a:r>
            <a:endParaRPr lang="en-US" sz="1600" dirty="0"/>
          </a:p>
        </p:txBody>
      </p:sp>
      <p:sp>
        <p:nvSpPr>
          <p:cNvPr id="15" name="Card"/>
          <p:cNvSpPr/>
          <p:nvPr/>
        </p:nvSpPr>
        <p:spPr>
          <a:xfrm>
            <a:off x="548640" y="3255264"/>
            <a:ext cx="8046720" cy="548640"/>
          </a:xfrm>
          <a:prstGeom prst="roundRect">
            <a:avLst>
              <a:gd name="adj" fmla="val 20000"/>
            </a:avLst>
          </a:prstGeom>
          <a:solidFill>
            <a:schemeClr val="bg2"/>
          </a:solidFill>
          <a:ln w="12700">
            <a:solidFill>
              <a:schemeClr val="bg2"/>
            </a:solidFill>
            <a:prstDash val="solid"/>
          </a:ln>
        </p:spPr>
      </p:sp>
      <p:sp>
        <p:nvSpPr>
          <p:cNvPr id="16" name="Icon circle"/>
          <p:cNvSpPr/>
          <p:nvPr/>
        </p:nvSpPr>
        <p:spPr>
          <a:xfrm>
            <a:off x="640080" y="3300984"/>
            <a:ext cx="457200" cy="457200"/>
          </a:xfrm>
          <a:prstGeom prst="ellipse">
            <a:avLst/>
          </a:prstGeom>
          <a:solidFill>
            <a:schemeClr val="accent2"/>
          </a:solidFill>
          <a:ln w="12700">
            <a:solidFill>
              <a:schemeClr val="accent2"/>
            </a:solidFill>
            <a:prstDash val="solid"/>
          </a:ln>
        </p:spPr>
      </p:sp>
      <p:pic>
        <p:nvPicPr>
          <p:cNvPr id="17" name="Image 3" descr="icon">    </p:cNvPr>
          <p:cNvPicPr>
            <a:picLocks noChangeAspect="1"/>
          </p:cNvPicPr>
          <p:nvPr/>
        </p:nvPicPr>
        <p:blipFill>
          <a:blip r:embed="rId4"/>
          <a:stretch>
            <a:fillRect/>
          </a:stretch>
        </p:blipFill>
        <p:spPr>
          <a:xfrm>
            <a:off x="754380" y="3415284"/>
            <a:ext cx="228600" cy="228600"/>
          </a:xfrm>
          <a:prstGeom prst="rect">
            <a:avLst/>
          </a:prstGeom>
        </p:spPr>
      </p:pic>
      <p:sp>
        <p:nvSpPr>
          <p:cNvPr id="18" name="Text 12"/>
          <p:cNvSpPr txBox="1"/>
          <p:nvPr/>
        </p:nvSpPr>
        <p:spPr>
          <a:xfrm>
            <a:off x="1280160" y="3255264"/>
            <a:ext cx="7223760" cy="548640"/>
          </a:xfrm>
          <a:prstGeom prst="rect">
            <a:avLst/>
          </a:prstGeom>
          <a:noFill/>
          <a:ln/>
        </p:spPr>
        <p:txBody>
          <a:bodyPr wrap="square" lIns="0" tIns="0" rIns="0" bIns="0" rtlCol="0" anchor="ctr"/>
          <a:lstStyle/>
          <a:p>
            <a:pPr indent="0" marL="0">
              <a:buNone/>
            </a:pPr>
            <a:r>
              <a:rPr lang="en-US" sz="1600" b="1" dirty="0">
                <a:solidFill>
                  <a:schemeClr val="tx1"/>
                </a:solidFill>
              </a:rPr>
              <a:t>Explore lightweight machine-learning applications on supported platforms</a:t>
            </a:r>
            <a:endParaRPr lang="en-US" sz="1600" dirty="0"/>
          </a:p>
        </p:txBody>
      </p:sp>
      <p:sp>
        <p:nvSpPr>
          <p:cNvPr id="19" name="Card"/>
          <p:cNvSpPr/>
          <p:nvPr/>
        </p:nvSpPr>
        <p:spPr>
          <a:xfrm>
            <a:off x="548640" y="3913632"/>
            <a:ext cx="8046720" cy="548640"/>
          </a:xfrm>
          <a:prstGeom prst="roundRect">
            <a:avLst>
              <a:gd name="adj" fmla="val 20000"/>
            </a:avLst>
          </a:prstGeom>
          <a:solidFill>
            <a:schemeClr val="bg2"/>
          </a:solidFill>
          <a:ln w="12700">
            <a:solidFill>
              <a:schemeClr val="bg2"/>
            </a:solidFill>
            <a:prstDash val="solid"/>
          </a:ln>
        </p:spPr>
      </p:sp>
      <p:sp>
        <p:nvSpPr>
          <p:cNvPr id="20" name="Icon circle"/>
          <p:cNvSpPr/>
          <p:nvPr/>
        </p:nvSpPr>
        <p:spPr>
          <a:xfrm>
            <a:off x="640080" y="3959352"/>
            <a:ext cx="457200" cy="457200"/>
          </a:xfrm>
          <a:prstGeom prst="ellipse">
            <a:avLst/>
          </a:prstGeom>
          <a:solidFill>
            <a:schemeClr val="accent2"/>
          </a:solidFill>
          <a:ln w="12700">
            <a:solidFill>
              <a:schemeClr val="accent2"/>
            </a:solidFill>
            <a:prstDash val="solid"/>
          </a:ln>
        </p:spPr>
      </p:sp>
      <p:pic>
        <p:nvPicPr>
          <p:cNvPr id="21" name="Image 4" descr="icon">    </p:cNvPr>
          <p:cNvPicPr>
            <a:picLocks noChangeAspect="1"/>
          </p:cNvPicPr>
          <p:nvPr/>
        </p:nvPicPr>
        <p:blipFill>
          <a:blip r:embed="rId5"/>
          <a:stretch>
            <a:fillRect/>
          </a:stretch>
        </p:blipFill>
        <p:spPr>
          <a:xfrm>
            <a:off x="754380" y="4073652"/>
            <a:ext cx="228600" cy="228600"/>
          </a:xfrm>
          <a:prstGeom prst="rect">
            <a:avLst/>
          </a:prstGeom>
        </p:spPr>
      </p:pic>
      <p:sp>
        <p:nvSpPr>
          <p:cNvPr id="22" name="Text 15"/>
          <p:cNvSpPr txBox="1"/>
          <p:nvPr/>
        </p:nvSpPr>
        <p:spPr>
          <a:xfrm>
            <a:off x="1280160" y="3913632"/>
            <a:ext cx="7223760" cy="548640"/>
          </a:xfrm>
          <a:prstGeom prst="rect">
            <a:avLst/>
          </a:prstGeom>
          <a:noFill/>
          <a:ln/>
        </p:spPr>
        <p:txBody>
          <a:bodyPr wrap="square" lIns="0" tIns="0" rIns="0" bIns="0" rtlCol="0" anchor="ctr"/>
          <a:lstStyle/>
          <a:p>
            <a:pPr indent="0" marL="0">
              <a:buNone/>
            </a:pPr>
            <a:r>
              <a:rPr lang="en-US" sz="1600" b="1" dirty="0">
                <a:solidFill>
                  <a:schemeClr val="tx1"/>
                </a:solidFill>
              </a:rPr>
              <a:t>Expand the recommendation system using measurable criteria</a:t>
            </a:r>
            <a:endParaRPr lang="en-US" sz="1600" dirty="0"/>
          </a:p>
        </p:txBody>
      </p:sp>
      <p:sp>
        <p:nvSpPr>
          <p:cNvPr id="25" name="Slide Number Placeholder 0"/>
          <p:cNvSpPr>
            <a:spLocks noGrp="1"/>
          </p:cNvSpPr>
          <p:nvPr>
            <p:ph type="sldNum" sz="quarter" idx="4294967295"/>
          </p:nvPr>
        </p:nvSpPr>
        <p:spPr>
          <a:xfrm>
            <a:off x="832104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914400"/>
            <a:ext cx="5669280" cy="1463040"/>
          </a:xfrm>
          <a:prstGeom prst="rect">
            <a:avLst/>
          </a:prstGeom>
          <a:noFill/>
          <a:ln/>
        </p:spPr>
        <p:txBody>
          <a:bodyPr wrap="square" lIns="0" tIns="0" rIns="0" bIns="0" rtlCol="0" anchor="b"/>
          <a:lstStyle/>
          <a:p>
            <a:pPr algn="l" indent="0" marL="0">
              <a:buNone/>
            </a:pPr>
            <a:r>
              <a:rPr lang="en-US" sz="3800" b="1" dirty="0">
                <a:solidFill>
                  <a:schemeClr val="bg1"/>
                </a:solidFill>
                <a:latin typeface="Cambria" pitchFamily="34" charset="0"/>
                <a:ea typeface="Cambria" pitchFamily="34" charset="-122"/>
                <a:cs typeface="Cambria" pitchFamily="34" charset="-120"/>
              </a:rPr>
              <a:t>Final Takeaway</a:t>
            </a:r>
            <a:endParaRPr lang="en-US" sz="3800" dirty="0"/>
          </a:p>
        </p:txBody>
      </p:sp>
      <p:sp>
        <p:nvSpPr>
          <p:cNvPr id="3" name="Text 0"/>
          <p:cNvSpPr/>
          <p:nvPr>
            <p:ph idx="101" type="body" hasCustomPrompt="1"/>
          </p:nvPr>
        </p:nvSpPr>
        <p:spPr>
          <a:xfrm>
            <a:off x="548640" y="2606040"/>
            <a:ext cx="5669280" cy="1097280"/>
          </a:xfrm>
          <a:prstGeom prst="rect">
            <a:avLst/>
          </a:prstGeom>
          <a:noFill/>
          <a:ln/>
        </p:spPr>
        <p:txBody>
          <a:bodyPr wrap="square" lIns="0" tIns="0" rIns="0" bIns="0" rtlCol="0" anchor="t"/>
          <a:lstStyle/>
          <a:p>
            <a:pPr algn="l" indent="0" marL="0">
              <a:buNone/>
            </a:pPr>
            <a:r>
              <a:rPr lang="en-US" sz="1800" b="1" dirty="0">
                <a:solidFill>
                  <a:schemeClr val="accent5"/>
                </a:solidFill>
              </a:rPr>
              <a:t>The best microcontroller is the one that best matches the project's requirements.</a:t>
            </a:r>
            <a:endParaRPr lang="en-US" sz="1800" dirty="0"/>
          </a:p>
        </p:txBody>
      </p:sp>
      <p:sp>
        <p:nvSpPr>
          <p:cNvPr id="4" name="Chip circle"/>
          <p:cNvSpPr/>
          <p:nvPr/>
        </p:nvSpPr>
        <p:spPr>
          <a:xfrm>
            <a:off x="6537960" y="1325880"/>
            <a:ext cx="2286000" cy="2286000"/>
          </a:xfrm>
          <a:prstGeom prst="ellipse">
            <a:avLst/>
          </a:prstGeom>
          <a:solidFill>
            <a:schemeClr val="accent4"/>
          </a:solidFill>
          <a:ln w="31750">
            <a:solidFill>
              <a:schemeClr val="accent1"/>
            </a:solidFill>
            <a:prstDash val="solid"/>
          </a:ln>
        </p:spPr>
      </p:sp>
      <p:pic>
        <p:nvPicPr>
          <p:cNvPr id="5" name="Image 0" descr="Microchip icon">    </p:cNvPr>
          <p:cNvPicPr>
            <a:picLocks noChangeAspect="1"/>
          </p:cNvPicPr>
          <p:nvPr/>
        </p:nvPicPr>
        <p:blipFill>
          <a:blip r:embed="rId1"/>
          <a:stretch>
            <a:fillRect/>
          </a:stretch>
        </p:blipFill>
        <p:spPr>
          <a:xfrm>
            <a:off x="7223760" y="2011680"/>
            <a:ext cx="914400" cy="914400"/>
          </a:xfrm>
          <a:prstGeom prst="rect">
            <a:avLst/>
          </a:prstGeom>
        </p:spPr>
      </p:pic>
    </p:spTree>
  </p:cSld>
  <p:clrMapOvr>
    <a:masterClrMapping/>
  </p:clrMapOvr>
</p:sld>
</file>

<file path=ppt/theme/theme1.xml><?xml version="1.0" encoding="utf-8"?>
<a:theme xmlns:a="http://schemas.openxmlformats.org/drawingml/2006/main" name="Circuit">
  <a:themeElements>
    <a:clrScheme name="Circuit">
      <a:dk1>
        <a:srgbClr val="2B1B3D"/>
      </a:dk1>
      <a:lt1>
        <a:srgbClr val="FFFFFF"/>
      </a:lt1>
      <a:dk2>
        <a:srgbClr val="4A2C6B"/>
      </a:dk2>
      <a:lt2>
        <a:srgbClr val="F5EFFB"/>
      </a:lt2>
      <a:accent1>
        <a:srgbClr val="F2A7C3"/>
      </a:accent1>
      <a:accent2>
        <a:srgbClr val="7B5EA7"/>
      </a:accent2>
      <a:accent3>
        <a:srgbClr val="B9A2E0"/>
      </a:accent3>
      <a:accent4>
        <a:srgbClr val="4A2C6B"/>
      </a:accent4>
      <a:accent5>
        <a:srgbClr val="CDBFE6"/>
      </a:accent5>
      <a:accent6>
        <a:srgbClr val="E0728F"/>
      </a:accent6>
      <a:hlink>
        <a:srgbClr val="7B5EA7"/>
      </a:hlink>
      <a:folHlink>
        <a:srgbClr val="4A2C6B"/>
      </a:folHlink>
    </a:clrScheme>
    <a:fontScheme name="Circui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Microcontroller Platform Comparison</dc:title>
  <dc:subject>PptxGenJS Presentation</dc:subject>
  <dc:creator>PptxGenJS</dc:creator>
  <cp:lastModifiedBy>PptxGenJS</cp:lastModifiedBy>
  <cp:revision>1</cp:revision>
  <dcterms:created xsi:type="dcterms:W3CDTF">2026-10-24T17:57:08Z</dcterms:created>
  <dcterms:modified xsi:type="dcterms:W3CDTF">2026-10-24T17:57:08Z</dcterms:modified>
</cp:coreProperties>
</file>